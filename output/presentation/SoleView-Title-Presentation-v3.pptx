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 source: https://images.unsplash.com/photo-1549298916-b41d501d3772</a:t>
            </a:r>
          </a:p>
          <a:p>
            <a:r>
              <a:t>Replace bracketed group information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 source: https://images.unsplash.com/photo-1460353581641-37baddab0fa2</a:t>
            </a:r>
          </a:p>
          <a:p>
            <a:r>
              <a:t>Target-user description is the project team's proposed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 source: https://images.unsplash.com/photo-1608231387042-66d1773070a5</a:t>
            </a:r>
          </a:p>
          <a:p>
            <a:r>
              <a:t>Problem statement is a project hypothesis. Validate it through a short shopper survey during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Current-process description represents the proposed problem framing. Validate it through observation or user interviews.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Workflow reflects the planned system scope and current prototype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Innovation statement follows the required sentence structure from the instructor handout. The proposed measurement needs user testing before reporting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Sample GLB source used in prototype: https://github.com/KhronosGroup/glTF-Sample-Assets/tree/main/Models/MaterialsVariantsShoe</a:t>
            </a:r>
          </a:p>
          <a:p>
            <a:r>
              <a:t>License: Creative Commons Attribution 4.0 International, © 2021 Shopify.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Scope follows the two-week implementation limit described in the project guide.</a:t>
            </a:r>
          </a:p>
          <a:p>
            <a:r>
              <a:t>Brand and asset guidance: https://www.nike.com/help/a/nike-corporate-details/app</a:t>
            </a:r>
          </a:p>
          <a:p>
            <a:r>
              <a:t>Sketchfab license guidance: https://sketchfab.com/licenses</a:t>
            </a:r>
          </a:p>
          <a:p>
            <a:r>
              <a:t>Downloaded Creative Commons models require the attribution shown on each model page. A model license does not by itself grant brand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UI concept generated for the SoleView prototype. The reservation form and owner confirmation screen follow this product-viewing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slide. Invite questions about implementation, risk, testing, and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23704" r="23704"/>
          <a:stretch>
            <a:fillRect/>
          </a:stretch>
        </p:blipFill>
        <p:spPr>
          <a:xfrm>
            <a:off x="7143750" y="0"/>
            <a:ext cx="504825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A75712-F4D9-4905-AB32-6C7A4DF154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43750" cy="6858000"/>
          </a:xfrm>
          <a:prstGeom prst="rect">
            <a:avLst/>
          </a:prstGeom>
          <a:solidFill>
            <a:srgbClr val="1C1917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A6B7FA-E388-4941-AE8E-FE91911967BA}"/>
              </a:ext>
            </a:extLst>
          </p:cNvPr>
          <p:cNvSpPr>
            <a:spLocks noGrp="1"/>
          </p:cNvSpPr>
          <p:nvPr/>
        </p:nvSpPr>
        <p:spPr>
          <a:xfrm>
            <a:off x="666750" y="6096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5F4"/>
                </a:solidFill>
                <a:latin typeface="Aptos"/>
                <a:ea typeface="Aptos"/>
                <a:cs typeface="Aptos"/>
              </a:rPr>
              <a:t>SOLEVIEW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8C9410-72E9-4EC7-AEEB-DFDC6A11EC70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685800" cy="38100"/>
          </a:xfrm>
          <a:prstGeom prst="rect">
            <a:avLst/>
          </a:prstGeom>
          <a:solidFill>
            <a:srgbClr val="B45309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E2BABE-38A6-427D-9E7C-D0E6FDBF992A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5905500" cy="2190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3D Shoe Viewing and</a:t>
            </a:r>
          </a:p>
          <a:p>
            <a:pPr algn="l">
              <a:defRPr sz="4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Pickup Reservation</a:t>
            </a:r>
          </a:p>
          <a:p>
            <a:pPr algn="l">
              <a:defRPr sz="4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89CEA2-6B5F-4345-B9AE-8BA134E400C6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4476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D6D3D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6D3D1"/>
                </a:solidFill>
                <a:latin typeface="Aptos"/>
                <a:ea typeface="Aptos"/>
                <a:cs typeface="Aptos"/>
              </a:rPr>
              <a:t>Integrative Programming 2</a:t>
            </a:r>
          </a:p>
          <a:p>
            <a:pPr algn="l">
              <a:defRPr sz="1725" b="0">
                <a:solidFill>
                  <a:srgbClr val="D6D3D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6D3D1"/>
                </a:solidFill>
                <a:latin typeface="Aptos"/>
                <a:ea typeface="Aptos"/>
                <a:cs typeface="Aptos"/>
              </a:rPr>
              <a:t>Prefinal Week 1 Title Presentation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BED471-8C09-47D4-A1CB-5617C9317768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D0B5"/>
                </a:solidFill>
                <a:latin typeface="Aptos"/>
                <a:ea typeface="Aptos"/>
                <a:cs typeface="Aptos"/>
              </a:rPr>
              <a:t>Group members: [Add names]</a:t>
            </a:r>
          </a:p>
          <a:p>
            <a:pPr algn="l">
              <a:defRPr sz="1425" b="0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D0B5"/>
                </a:solidFill>
                <a:latin typeface="Aptos"/>
                <a:ea typeface="Aptos"/>
                <a:cs typeface="Aptos"/>
              </a:rPr>
              <a:t>Section: [Add section]</a:t>
            </a:r>
          </a:p>
        </p:txBody>
      </p:sp>
    </p:spTree>
    <p:extLst>
      <p:ext uri="{BB962C8B-B14F-4D97-AF65-F5344CB8AC3E}">
        <p14:creationId xmlns:p14="http://schemas.microsoft.com/office/powerpoint/2010/main" val="297050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70B951-067F-4D2C-87B4-29CBBD1D33D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0965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Target users and context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2EE146-9327-4BC8-BCE6-A7B29ECEFB9F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5334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E7A58D-9E07-4187-A57E-A3B4306B7E03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19050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4492F5-F5B1-461D-A06F-73B3B2E220BF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Primary user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52EA1F-F133-4211-88EB-0FCA2D1B8E31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51435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775" b="1" dirty="0">
                <a:solidFill>
                  <a:srgbClr val="292524"/>
                </a:solidFill>
                <a:latin typeface="Aptos"/>
                <a:ea typeface="Aptos"/>
                <a:cs typeface="Aptos"/>
              </a:rPr>
              <a:t>Customers of </a:t>
            </a:r>
            <a:r>
              <a:rPr lang="en-PH" sz="2775" b="1" dirty="0">
                <a:solidFill>
                  <a:srgbClr val="292524"/>
                </a:solidFill>
                <a:latin typeface="Aptos"/>
                <a:ea typeface="Aptos"/>
                <a:cs typeface="Aptos"/>
              </a:rPr>
              <a:t>the </a:t>
            </a:r>
            <a:r>
              <a:rPr sz="2775" b="1" dirty="0">
                <a:solidFill>
                  <a:srgbClr val="292524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05520B-12E7-4238-A9BE-981F80711892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lang="en-US" dirty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who want to inspect footwear closely before deciding which pair fits their needs and style.</a:t>
            </a:r>
          </a:p>
          <a:p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endParaRPr sz="1725" b="0" dirty="0">
              <a:solidFill>
                <a:srgbClr val="78716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600FA-98D2-47DA-AEAA-22DB18D78338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5000625" cy="19050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29DBB4-5E3A-4107-A6E9-CF1E77B7F8FD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endParaRPr sz="1500" b="1" dirty="0">
              <a:solidFill>
                <a:srgbClr val="B4530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688539-B7D0-4696-9CB7-FD1D0ECA0C13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5000625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lang="en-US" sz="1725" dirty="0">
                <a:solidFill>
                  <a:srgbClr val="292524"/>
                </a:solidFill>
                <a:latin typeface="Aptos"/>
                <a:ea typeface="Aptos"/>
                <a:cs typeface="Aptos"/>
              </a:rPr>
              <a:t>Product browsing happens on phones and computers, where shoppers currently depend on static photos and short descriptions.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rcRect l="11100" r="11100"/>
          <a:stretch>
            <a:fillRect/>
          </a:stretch>
        </p:blipFill>
        <p:spPr>
          <a:xfrm>
            <a:off x="6191250" y="1428750"/>
            <a:ext cx="5391150" cy="46196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7538B3-F1C9-4DDF-BD40-46F644212A6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2139856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B8DD457-C5D4-450F-81CE-1F4909ED9C2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0965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42F16F-7378-4AC1-AF5B-88D520678BC0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5334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604A2E-F2CB-4120-B0C9-98D87DF6B8A1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19050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rcRect l="12500" r="12500"/>
          <a:stretch>
            <a:fillRect/>
          </a:stretch>
        </p:blipFill>
        <p:spPr>
          <a:xfrm>
            <a:off x="609600" y="1428750"/>
            <a:ext cx="4476750" cy="4476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EAFC80E-2204-4F4E-ADC8-F790E7576D2C}"/>
              </a:ext>
            </a:extLst>
          </p:cNvPr>
          <p:cNvSpPr>
            <a:spLocks noGrp="1"/>
          </p:cNvSpPr>
          <p:nvPr/>
        </p:nvSpPr>
        <p:spPr>
          <a:xfrm>
            <a:off x="5667375" y="1524000"/>
            <a:ext cx="5429250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Customers cannot inspect shoes or confirm stock quickly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616DE6-3423-43C3-A832-D35B8809C7A6}"/>
              </a:ext>
            </a:extLst>
          </p:cNvPr>
          <p:cNvSpPr>
            <a:spLocks noGrp="1"/>
          </p:cNvSpPr>
          <p:nvPr/>
        </p:nvSpPr>
        <p:spPr>
          <a:xfrm>
            <a:off x="5667375" y="2857500"/>
            <a:ext cx="54292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92524"/>
                </a:solidFill>
                <a:latin typeface="Aptos"/>
                <a:ea typeface="Aptos"/>
                <a:cs typeface="Aptos"/>
              </a:rPr>
              <a:t>Static photos limit product inspection. Size and color availability often requires a separate message to the store.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60B6A3-1B1E-4EFF-9AAE-32FDE49CC5C8}"/>
              </a:ext>
            </a:extLst>
          </p:cNvPr>
          <p:cNvSpPr>
            <a:spLocks noGrp="1"/>
          </p:cNvSpPr>
          <p:nvPr/>
        </p:nvSpPr>
        <p:spPr>
          <a:xfrm>
            <a:off x="5667375" y="4000500"/>
            <a:ext cx="762000" cy="38100"/>
          </a:xfrm>
          <a:prstGeom prst="rect">
            <a:avLst/>
          </a:prstGeom>
          <a:solidFill>
            <a:srgbClr val="B45309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5AAEB5-D6EF-4719-9ADB-4C1516B577D2}"/>
              </a:ext>
            </a:extLst>
          </p:cNvPr>
          <p:cNvSpPr>
            <a:spLocks noGrp="1"/>
          </p:cNvSpPr>
          <p:nvPr/>
        </p:nvSpPr>
        <p:spPr>
          <a:xfrm>
            <a:off x="5667375" y="428625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DE471C-EB5C-4521-B68F-296A87A9B2FC}"/>
              </a:ext>
            </a:extLst>
          </p:cNvPr>
          <p:cNvSpPr>
            <a:spLocks noGrp="1"/>
          </p:cNvSpPr>
          <p:nvPr/>
        </p:nvSpPr>
        <p:spPr>
          <a:xfrm>
            <a:off x="5667375" y="4686300"/>
            <a:ext cx="542925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spend more time asking questions and may visit the store without knowing whether their preferred variant remains available.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96DC46-1A86-4EA2-8A92-2AAAB20C42E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1090081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B3D7828-0E78-422B-9462-369A777AE11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0965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8400AD-4040-4F95-B344-F504E8A956E2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5334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2BDF42-5AD5-4B22-87D1-28CCB1907B6D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19050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B39633-7BE8-4AA1-989F-AE696AE2BC1A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5905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AEEF0-1F10-461B-8AF6-AF0D3CA49677}"/>
              </a:ext>
            </a:extLst>
          </p:cNvPr>
          <p:cNvSpPr>
            <a:spLocks noGrp="1"/>
          </p:cNvSpPr>
          <p:nvPr/>
        </p:nvSpPr>
        <p:spPr>
          <a:xfrm>
            <a:off x="1524000" y="144780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Browse static photos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5A67E9-152C-474C-A332-9E4D3180B5C6}"/>
              </a:ext>
            </a:extLst>
          </p:cNvPr>
          <p:cNvSpPr>
            <a:spLocks noGrp="1"/>
          </p:cNvSpPr>
          <p:nvPr/>
        </p:nvSpPr>
        <p:spPr>
          <a:xfrm>
            <a:off x="5524500" y="1447800"/>
            <a:ext cx="55721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 checks a small set of fixed product angles.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56BE4B-99A6-465C-B8FC-617029230165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10353675" cy="9525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07D44-78DD-436C-8DDB-2F17D3028115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5905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CE6851-326B-49F4-8392-646E3D1BD518}"/>
              </a:ext>
            </a:extLst>
          </p:cNvPr>
          <p:cNvSpPr>
            <a:spLocks noGrp="1"/>
          </p:cNvSpPr>
          <p:nvPr/>
        </p:nvSpPr>
        <p:spPr>
          <a:xfrm>
            <a:off x="1524000" y="260985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Message the store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CC649F-7C06-415C-9CD1-E3B6894A8FA0}"/>
              </a:ext>
            </a:extLst>
          </p:cNvPr>
          <p:cNvSpPr>
            <a:spLocks noGrp="1"/>
          </p:cNvSpPr>
          <p:nvPr/>
        </p:nvSpPr>
        <p:spPr>
          <a:xfrm>
            <a:off x="5524500" y="2609850"/>
            <a:ext cx="55721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 asks whether a size and color are still available.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85194F-7103-44E4-B47F-9ABF8C915C63}"/>
              </a:ext>
            </a:extLst>
          </p:cNvPr>
          <p:cNvSpPr>
            <a:spLocks noGrp="1"/>
          </p:cNvSpPr>
          <p:nvPr/>
        </p:nvSpPr>
        <p:spPr>
          <a:xfrm>
            <a:off x="742950" y="3409950"/>
            <a:ext cx="10353675" cy="9525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52E01E-D3A5-4F0A-A85F-FE18B2CB5402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5905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9110F5-9F2F-4917-8673-B986396F88C4}"/>
              </a:ext>
            </a:extLst>
          </p:cNvPr>
          <p:cNvSpPr>
            <a:spLocks noGrp="1"/>
          </p:cNvSpPr>
          <p:nvPr/>
        </p:nvSpPr>
        <p:spPr>
          <a:xfrm>
            <a:off x="1524000" y="377190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Wait for confirmation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D0B216-0C1E-4B05-9CAB-CF0C0AF42893}"/>
              </a:ext>
            </a:extLst>
          </p:cNvPr>
          <p:cNvSpPr>
            <a:spLocks noGrp="1"/>
          </p:cNvSpPr>
          <p:nvPr/>
        </p:nvSpPr>
        <p:spPr>
          <a:xfrm>
            <a:off x="5524500" y="3771900"/>
            <a:ext cx="55721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Staff manually checks stock and replies when available.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F90AEC-72E2-4793-8525-44C78AF1DCF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353675" cy="9525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1F35E8-96EE-4EA3-A5DE-4E9FC296BA15}"/>
              </a:ext>
            </a:extLst>
          </p:cNvPr>
          <p:cNvSpPr>
            <a:spLocks noGrp="1"/>
          </p:cNvSpPr>
          <p:nvPr/>
        </p:nvSpPr>
        <p:spPr>
          <a:xfrm>
            <a:off x="742950" y="4914900"/>
            <a:ext cx="5905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9F55FD-5690-45DC-A1F6-F94231454E2F}"/>
              </a:ext>
            </a:extLst>
          </p:cNvPr>
          <p:cNvSpPr>
            <a:spLocks noGrp="1"/>
          </p:cNvSpPr>
          <p:nvPr/>
        </p:nvSpPr>
        <p:spPr>
          <a:xfrm>
            <a:off x="1524000" y="493395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Visit without a hold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7FF4A0-33C9-4848-AD70-DC42CC203C8A}"/>
              </a:ext>
            </a:extLst>
          </p:cNvPr>
          <p:cNvSpPr>
            <a:spLocks noGrp="1"/>
          </p:cNvSpPr>
          <p:nvPr/>
        </p:nvSpPr>
        <p:spPr>
          <a:xfrm>
            <a:off x="5524500" y="4933950"/>
            <a:ext cx="55721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The selected pair may sell before the customer arrives.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769607-9353-44AF-B3BE-23679084B13A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10972800" cy="323850"/>
          </a:xfrm>
          <a:prstGeom prst="rect">
            <a:avLst/>
          </a:prstGeom>
          <a:solidFill>
            <a:srgbClr val="FFF1E6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1C4E0E-C15C-45D7-B19E-983900673988}"/>
              </a:ext>
            </a:extLst>
          </p:cNvPr>
          <p:cNvSpPr>
            <a:spLocks noGrp="1"/>
          </p:cNvSpPr>
          <p:nvPr/>
        </p:nvSpPr>
        <p:spPr>
          <a:xfrm>
            <a:off x="781050" y="6057900"/>
            <a:ext cx="9906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Main pain point: product inspection and pickup availability require separate manual steps.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4168A0-FCB0-4864-9969-DC731C9CFA9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1674910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B1A8BF6-AA9B-4FE7-9A43-A8E0633D2EE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0965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Proposed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1FC780-12D6-4509-A6D2-F8250C2E7D2A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5334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24C231-051E-40FE-A910-119916D5516F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19050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D1C0D5-30B7-4A0C-8E8F-CEACB9932B1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connects product inspection, stock checking, and pickup reservation in one workflow.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C12099-4D01-478A-AD80-69CDF7471DA9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1847850" cy="2381250"/>
          </a:xfrm>
          <a:prstGeom prst="rect">
            <a:avLst/>
          </a:prstGeom>
          <a:solidFill>
            <a:srgbClr val="FAF8F5"/>
          </a:solidFill>
          <a:ln w="9525">
            <a:solidFill>
              <a:srgbClr val="D6D3D1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0CCFB1-DA92-41E8-AA79-E7841126C1AC}"/>
              </a:ext>
            </a:extLst>
          </p:cNvPr>
          <p:cNvSpPr>
            <a:spLocks noGrp="1"/>
          </p:cNvSpPr>
          <p:nvPr/>
        </p:nvSpPr>
        <p:spPr>
          <a:xfrm>
            <a:off x="781050" y="2524125"/>
            <a:ext cx="4953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C31FD0-43DA-4B34-9C0D-841BE469E20C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15049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Browse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F60891-04AD-4807-A2B2-28566A0A8624}"/>
              </a:ext>
            </a:extLst>
          </p:cNvPr>
          <p:cNvSpPr>
            <a:spLocks noGrp="1"/>
          </p:cNvSpPr>
          <p:nvPr/>
        </p:nvSpPr>
        <p:spPr>
          <a:xfrm>
            <a:off x="781050" y="3762375"/>
            <a:ext cx="15049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Open the store's shoe catalog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777B3D-49EE-4B93-A86C-E640FA8BFD4F}"/>
              </a:ext>
            </a:extLst>
          </p:cNvPr>
          <p:cNvSpPr>
            <a:spLocks noGrp="1"/>
          </p:cNvSpPr>
          <p:nvPr/>
        </p:nvSpPr>
        <p:spPr>
          <a:xfrm>
            <a:off x="2457450" y="3505200"/>
            <a:ext cx="352425" cy="19050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1BB8AE-4055-4D94-9456-212331443FCB}"/>
              </a:ext>
            </a:extLst>
          </p:cNvPr>
          <p:cNvSpPr>
            <a:spLocks noGrp="1"/>
          </p:cNvSpPr>
          <p:nvPr/>
        </p:nvSpPr>
        <p:spPr>
          <a:xfrm>
            <a:off x="2809875" y="2333625"/>
            <a:ext cx="1847850" cy="2381250"/>
          </a:xfrm>
          <a:prstGeom prst="rect">
            <a:avLst/>
          </a:prstGeom>
          <a:solidFill>
            <a:srgbClr val="FFF1E6"/>
          </a:solidFill>
          <a:ln w="19050">
            <a:solidFill>
              <a:srgbClr val="B45309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95AB37-D2B2-4901-A52C-979761555343}"/>
              </a:ext>
            </a:extLst>
          </p:cNvPr>
          <p:cNvSpPr>
            <a:spLocks noGrp="1"/>
          </p:cNvSpPr>
          <p:nvPr/>
        </p:nvSpPr>
        <p:spPr>
          <a:xfrm>
            <a:off x="2981325" y="2524125"/>
            <a:ext cx="4953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F0CA6D-6288-4D01-9E33-4858BC0C34CB}"/>
              </a:ext>
            </a:extLst>
          </p:cNvPr>
          <p:cNvSpPr>
            <a:spLocks noGrp="1"/>
          </p:cNvSpPr>
          <p:nvPr/>
        </p:nvSpPr>
        <p:spPr>
          <a:xfrm>
            <a:off x="2981325" y="3219450"/>
            <a:ext cx="15049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AF31DC-EE1D-4208-BDF1-39E8E337829D}"/>
              </a:ext>
            </a:extLst>
          </p:cNvPr>
          <p:cNvSpPr>
            <a:spLocks noGrp="1"/>
          </p:cNvSpPr>
          <p:nvPr/>
        </p:nvSpPr>
        <p:spPr>
          <a:xfrm>
            <a:off x="2981325" y="3762375"/>
            <a:ext cx="15049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Rotate and zoom the 3D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1FFC15-1D19-437B-B861-39EEB5660889}"/>
              </a:ext>
            </a:extLst>
          </p:cNvPr>
          <p:cNvSpPr>
            <a:spLocks noGrp="1"/>
          </p:cNvSpPr>
          <p:nvPr/>
        </p:nvSpPr>
        <p:spPr>
          <a:xfrm>
            <a:off x="4657725" y="3505200"/>
            <a:ext cx="352425" cy="19050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420647-6601-4C4C-BEC8-90CE34AC9578}"/>
              </a:ext>
            </a:extLst>
          </p:cNvPr>
          <p:cNvSpPr>
            <a:spLocks noGrp="1"/>
          </p:cNvSpPr>
          <p:nvPr/>
        </p:nvSpPr>
        <p:spPr>
          <a:xfrm>
            <a:off x="5010150" y="2333625"/>
            <a:ext cx="1847850" cy="2381250"/>
          </a:xfrm>
          <a:prstGeom prst="rect">
            <a:avLst/>
          </a:prstGeom>
          <a:solidFill>
            <a:srgbClr val="FAF8F5"/>
          </a:solidFill>
          <a:ln w="9525">
            <a:solidFill>
              <a:srgbClr val="D6D3D1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3A885B-92A3-4BB2-90C9-A57B480AA30A}"/>
              </a:ext>
            </a:extLst>
          </p:cNvPr>
          <p:cNvSpPr>
            <a:spLocks noGrp="1"/>
          </p:cNvSpPr>
          <p:nvPr/>
        </p:nvSpPr>
        <p:spPr>
          <a:xfrm>
            <a:off x="5181600" y="2524125"/>
            <a:ext cx="4953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9078D4-2711-4960-B7E1-613A8BFA845B}"/>
              </a:ext>
            </a:extLst>
          </p:cNvPr>
          <p:cNvSpPr>
            <a:spLocks noGrp="1"/>
          </p:cNvSpPr>
          <p:nvPr/>
        </p:nvSpPr>
        <p:spPr>
          <a:xfrm>
            <a:off x="5181600" y="3219450"/>
            <a:ext cx="15049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71FDAF-BB32-42A4-B0C2-F393407EA085}"/>
              </a:ext>
            </a:extLst>
          </p:cNvPr>
          <p:cNvSpPr>
            <a:spLocks noGrp="1"/>
          </p:cNvSpPr>
          <p:nvPr/>
        </p:nvSpPr>
        <p:spPr>
          <a:xfrm>
            <a:off x="5181600" y="3762375"/>
            <a:ext cx="15049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Choose an available size and color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16426B-59E2-4175-A65C-E886D48D91C2}"/>
              </a:ext>
            </a:extLst>
          </p:cNvPr>
          <p:cNvSpPr>
            <a:spLocks noGrp="1"/>
          </p:cNvSpPr>
          <p:nvPr/>
        </p:nvSpPr>
        <p:spPr>
          <a:xfrm>
            <a:off x="6858000" y="3505200"/>
            <a:ext cx="352425" cy="19050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CF5E09-7619-4B02-BE11-9044963B51FC}"/>
              </a:ext>
            </a:extLst>
          </p:cNvPr>
          <p:cNvSpPr>
            <a:spLocks noGrp="1"/>
          </p:cNvSpPr>
          <p:nvPr/>
        </p:nvSpPr>
        <p:spPr>
          <a:xfrm>
            <a:off x="7210425" y="2333625"/>
            <a:ext cx="1847850" cy="2381250"/>
          </a:xfrm>
          <a:prstGeom prst="rect">
            <a:avLst/>
          </a:prstGeom>
          <a:solidFill>
            <a:srgbClr val="FAF8F5"/>
          </a:solidFill>
          <a:ln w="9525">
            <a:solidFill>
              <a:srgbClr val="D6D3D1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8AE7E4-808B-4E23-B33C-0CF86D3A530D}"/>
              </a:ext>
            </a:extLst>
          </p:cNvPr>
          <p:cNvSpPr>
            <a:spLocks noGrp="1"/>
          </p:cNvSpPr>
          <p:nvPr/>
        </p:nvSpPr>
        <p:spPr>
          <a:xfrm>
            <a:off x="7381875" y="2524125"/>
            <a:ext cx="4953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DB3E71-30E7-48B5-9410-70D975939A9E}"/>
              </a:ext>
            </a:extLst>
          </p:cNvPr>
          <p:cNvSpPr>
            <a:spLocks noGrp="1"/>
          </p:cNvSpPr>
          <p:nvPr/>
        </p:nvSpPr>
        <p:spPr>
          <a:xfrm>
            <a:off x="7381875" y="3219450"/>
            <a:ext cx="15049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292524"/>
                </a:solidFill>
                <a:latin typeface="Aptos"/>
                <a:ea typeface="Aptos"/>
                <a:cs typeface="Aptos"/>
              </a:rPr>
              <a:t>Reserve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B732B8-9A78-44C7-A10C-ECA005F892F7}"/>
              </a:ext>
            </a:extLst>
          </p:cNvPr>
          <p:cNvSpPr>
            <a:spLocks noGrp="1"/>
          </p:cNvSpPr>
          <p:nvPr/>
        </p:nvSpPr>
        <p:spPr>
          <a:xfrm>
            <a:off x="7381875" y="3762375"/>
            <a:ext cx="15049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78716C"/>
                </a:solidFill>
                <a:latin typeface="Aptos"/>
                <a:ea typeface="Aptos"/>
                <a:cs typeface="Aptos"/>
              </a:rPr>
              <a:t>Enter pickup contact details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90C085-F667-4E91-9FF7-DE1058B421C0}"/>
              </a:ext>
            </a:extLst>
          </p:cNvPr>
          <p:cNvSpPr>
            <a:spLocks noGrp="1"/>
          </p:cNvSpPr>
          <p:nvPr/>
        </p:nvSpPr>
        <p:spPr>
          <a:xfrm>
            <a:off x="9058275" y="3505200"/>
            <a:ext cx="352425" cy="19050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886D47-0CD2-4366-8205-28DE5ED682A4}"/>
              </a:ext>
            </a:extLst>
          </p:cNvPr>
          <p:cNvSpPr>
            <a:spLocks noGrp="1"/>
          </p:cNvSpPr>
          <p:nvPr/>
        </p:nvSpPr>
        <p:spPr>
          <a:xfrm>
            <a:off x="9410700" y="2333625"/>
            <a:ext cx="1847850" cy="2381250"/>
          </a:xfrm>
          <a:prstGeom prst="rect">
            <a:avLst/>
          </a:prstGeom>
          <a:solidFill>
            <a:srgbClr val="FAF8F5"/>
          </a:solidFill>
          <a:ln w="9525">
            <a:solidFill>
              <a:srgbClr val="D6D3D1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47C6BD-407C-4BE7-9F79-DA6D1151E015}"/>
              </a:ext>
            </a:extLst>
          </p:cNvPr>
          <p:cNvSpPr>
            <a:spLocks noGrp="1"/>
          </p:cNvSpPr>
          <p:nvPr/>
        </p:nvSpPr>
        <p:spPr>
          <a:xfrm>
            <a:off x="9582150" y="2524125"/>
            <a:ext cx="4953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259C8E-D8D8-4AEC-8156-F486BEC995C2}"/>
              </a:ext>
            </a:extLst>
          </p:cNvPr>
          <p:cNvSpPr>
            <a:spLocks noGrp="1"/>
          </p:cNvSpPr>
          <p:nvPr/>
        </p:nvSpPr>
        <p:spPr>
          <a:xfrm>
            <a:off x="9582150" y="3219450"/>
            <a:ext cx="15049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292524"/>
                </a:solidFill>
                <a:latin typeface="Aptos"/>
                <a:ea typeface="Aptos"/>
                <a:cs typeface="Aptos"/>
              </a:rPr>
              <a:t>Confirm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938A7D-D602-453E-83C2-D109FDF6E987}"/>
              </a:ext>
            </a:extLst>
          </p:cNvPr>
          <p:cNvSpPr>
            <a:spLocks noGrp="1"/>
          </p:cNvSpPr>
          <p:nvPr/>
        </p:nvSpPr>
        <p:spPr>
          <a:xfrm>
            <a:off x="9582150" y="3762375"/>
            <a:ext cx="15049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78716C"/>
                </a:solidFill>
                <a:latin typeface="Aptos"/>
                <a:ea typeface="Aptos"/>
                <a:cs typeface="Aptos"/>
              </a:rPr>
              <a:t>Owner approves and prepares the pair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0D36B8-F618-464D-99A2-4F3EDAE2BD64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Owner workflow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A841A7-F670-4A37-ADA5-F79D598796F9}"/>
              </a:ext>
            </a:extLst>
          </p:cNvPr>
          <p:cNvSpPr>
            <a:spLocks noGrp="1"/>
          </p:cNvSpPr>
          <p:nvPr/>
        </p:nvSpPr>
        <p:spPr>
          <a:xfrm>
            <a:off x="2428875" y="5267325"/>
            <a:ext cx="8572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92524"/>
                </a:solidFill>
                <a:latin typeface="Aptos"/>
                <a:ea typeface="Aptos"/>
                <a:cs typeface="Aptos"/>
              </a:rPr>
              <a:t>After login, manage products and GLB files, update variant stock, then confirm or reject reservations.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434F6-ECF9-4E3E-8B60-D735C495143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77541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27041B-2E68-4A18-9E24-4D438157505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Innovation and improvement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BF4C7A-154F-4FDB-B9E1-5D4347E66193}"/>
              </a:ext>
            </a:extLst>
          </p:cNvPr>
          <p:cNvSpPr>
            <a:spLocks noGrp="1"/>
          </p:cNvSpPr>
          <p:nvPr/>
        </p:nvSpPr>
        <p:spPr>
          <a:xfrm>
            <a:off x="11049000" y="5143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350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930DF-09B8-499C-9E9A-3ACDF9FAF759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44403C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C115CB-DAB2-42F7-9C99-7BEC310CED08}"/>
              </a:ext>
            </a:extLst>
          </p:cNvPr>
          <p:cNvSpPr>
            <a:spLocks noGrp="1"/>
          </p:cNvSpPr>
          <p:nvPr/>
        </p:nvSpPr>
        <p:spPr>
          <a:xfrm>
            <a:off x="800100" y="1600200"/>
            <a:ext cx="10001250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Existing shoe-store pages rely on static photos and manual messages for stock confirmation and pickup requests.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755B1F-52C6-4508-9026-44200942CB85}"/>
              </a:ext>
            </a:extLst>
          </p:cNvPr>
          <p:cNvSpPr>
            <a:spLocks noGrp="1"/>
          </p:cNvSpPr>
          <p:nvPr/>
        </p:nvSpPr>
        <p:spPr>
          <a:xfrm>
            <a:off x="800100" y="3028950"/>
            <a:ext cx="685800" cy="47625"/>
          </a:xfrm>
          <a:prstGeom prst="rect">
            <a:avLst/>
          </a:prstGeom>
          <a:solidFill>
            <a:srgbClr val="B45309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4FAD58-5591-4C8F-9573-65945A5C2E4B}"/>
              </a:ext>
            </a:extLst>
          </p:cNvPr>
          <p:cNvSpPr>
            <a:spLocks noGrp="1"/>
          </p:cNvSpPr>
          <p:nvPr/>
        </p:nvSpPr>
        <p:spPr>
          <a:xfrm>
            <a:off x="800100" y="3486150"/>
            <a:ext cx="990600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E7E5E4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E7E5E4"/>
                </a:solidFill>
                <a:latin typeface="Aptos"/>
                <a:ea typeface="Aptos"/>
                <a:cs typeface="Aptos"/>
              </a:rPr>
              <a:t>Our system improves this through interactive 3D viewing, variant-level stock display, and pickup reservation, which helps customers inspect a shoe and secure an available pair faster.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EC112C-8D9E-4A07-8162-380D086804EE}"/>
              </a:ext>
            </a:extLst>
          </p:cNvPr>
          <p:cNvSpPr>
            <a:spLocks noGrp="1"/>
          </p:cNvSpPr>
          <p:nvPr/>
        </p:nvSpPr>
        <p:spPr>
          <a:xfrm>
            <a:off x="800100" y="5238750"/>
            <a:ext cx="10001250" cy="9525"/>
          </a:xfrm>
          <a:prstGeom prst="rect">
            <a:avLst/>
          </a:prstGeom>
          <a:solidFill>
            <a:srgbClr val="57534E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110B5D-12EA-4F95-B9CC-F352C0149B9E}"/>
              </a:ext>
            </a:extLst>
          </p:cNvPr>
          <p:cNvSpPr>
            <a:spLocks noGrp="1"/>
          </p:cNvSpPr>
          <p:nvPr/>
        </p:nvSpPr>
        <p:spPr>
          <a:xfrm>
            <a:off x="800100" y="5524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Measurable test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494018-FB90-4ADB-9794-54CE6BAC8EF5}"/>
              </a:ext>
            </a:extLst>
          </p:cNvPr>
          <p:cNvSpPr>
            <a:spLocks noGrp="1"/>
          </p:cNvSpPr>
          <p:nvPr/>
        </p:nvSpPr>
        <p:spPr>
          <a:xfrm>
            <a:off x="2714625" y="5495925"/>
            <a:ext cx="7953375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D6D3D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6D3D1"/>
                </a:solidFill>
                <a:latin typeface="Aptos"/>
                <a:ea typeface="Aptos"/>
                <a:cs typeface="Aptos"/>
              </a:rPr>
              <a:t>Compare the time and number of steps needed to inspect a shoe and confirm a pickup-ready variant.</a:t>
            </a:r>
          </a:p>
        </p:txBody>
      </p:sp>
    </p:spTree>
    <p:extLst>
      <p:ext uri="{BB962C8B-B14F-4D97-AF65-F5344CB8AC3E}">
        <p14:creationId xmlns:p14="http://schemas.microsoft.com/office/powerpoint/2010/main" val="1455803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C6829AC-A567-4D10-9F9B-27EE2577ADB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0965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Core 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29F3EA-9528-43FE-B4A0-44DD7DE5989E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5334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0D2F95-9D93-45B4-BD46-5A3E32F3F2E2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19050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33FA0D-5ACF-4983-9AC0-5CDA09870884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58F069-848D-408A-A9AA-AC8AF6ADA9C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32385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Interactive 3D viewer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0AA7EA-1808-4E4A-AE90-05AD33D09BDC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3190875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rotate and zoom licensed branded shoe models before selecting a variant.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C113E8-8A1E-41FA-BD86-C32995B5515B}"/>
              </a:ext>
            </a:extLst>
          </p:cNvPr>
          <p:cNvSpPr>
            <a:spLocks noGrp="1"/>
          </p:cNvSpPr>
          <p:nvPr/>
        </p:nvSpPr>
        <p:spPr>
          <a:xfrm>
            <a:off x="4076700" y="1638300"/>
            <a:ext cx="9525" cy="3810000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F04EFF-FA70-4B08-9EF7-721F6F0F9B08}"/>
              </a:ext>
            </a:extLst>
          </p:cNvPr>
          <p:cNvSpPr>
            <a:spLocks noGrp="1"/>
          </p:cNvSpPr>
          <p:nvPr/>
        </p:nvSpPr>
        <p:spPr>
          <a:xfrm>
            <a:off x="4324350" y="1571625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BE6F8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BE6F8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8D938B-DE40-4877-A42D-FA923409B045}"/>
              </a:ext>
            </a:extLst>
          </p:cNvPr>
          <p:cNvSpPr>
            <a:spLocks noGrp="1"/>
          </p:cNvSpPr>
          <p:nvPr/>
        </p:nvSpPr>
        <p:spPr>
          <a:xfrm>
            <a:off x="4324350" y="2333625"/>
            <a:ext cx="32385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250" b="1" dirty="0">
                <a:solidFill>
                  <a:srgbClr val="292524"/>
                </a:solidFill>
                <a:latin typeface="Aptos"/>
                <a:ea typeface="Aptos"/>
                <a:cs typeface="Aptos"/>
              </a:rPr>
              <a:t>Stock-linked reservation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05B07F-51D1-44C0-B4FC-7A733E9F0FC5}"/>
              </a:ext>
            </a:extLst>
          </p:cNvPr>
          <p:cNvSpPr>
            <a:spLocks noGrp="1"/>
          </p:cNvSpPr>
          <p:nvPr/>
        </p:nvSpPr>
        <p:spPr>
          <a:xfrm>
            <a:off x="4324350" y="3314700"/>
            <a:ext cx="3190875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select a size and color, then reserve an available pair for store pickup.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439C3F-4960-4FDC-B370-32880EE1D123}"/>
              </a:ext>
            </a:extLst>
          </p:cNvPr>
          <p:cNvSpPr>
            <a:spLocks noGrp="1"/>
          </p:cNvSpPr>
          <p:nvPr/>
        </p:nvSpPr>
        <p:spPr>
          <a:xfrm>
            <a:off x="7791450" y="1638300"/>
            <a:ext cx="9525" cy="3810000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B0F559-3049-4A3D-813C-21A4DB9E15D0}"/>
              </a:ext>
            </a:extLst>
          </p:cNvPr>
          <p:cNvSpPr>
            <a:spLocks noGrp="1"/>
          </p:cNvSpPr>
          <p:nvPr/>
        </p:nvSpPr>
        <p:spPr>
          <a:xfrm>
            <a:off x="8039100" y="1571625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87C86B-5E22-4DED-AFE4-9F035571D4FE}"/>
              </a:ext>
            </a:extLst>
          </p:cNvPr>
          <p:cNvSpPr>
            <a:spLocks noGrp="1"/>
          </p:cNvSpPr>
          <p:nvPr/>
        </p:nvSpPr>
        <p:spPr>
          <a:xfrm>
            <a:off x="8039100" y="2333625"/>
            <a:ext cx="32385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Secure owner management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0ED227-B9BB-45E1-983B-9E388F103B6A}"/>
              </a:ext>
            </a:extLst>
          </p:cNvPr>
          <p:cNvSpPr>
            <a:spLocks noGrp="1"/>
          </p:cNvSpPr>
          <p:nvPr/>
        </p:nvSpPr>
        <p:spPr>
          <a:xfrm>
            <a:off x="8039100" y="3314700"/>
            <a:ext cx="3190875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The owner logs in to manage products, GLB files, stock, and reservation statuses.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DFE6D0-3914-4B8A-9C71-0985EF221EE5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19050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641BA5-83C5-4531-8FA2-A4887CF0171A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browse and reserve without an account. Only the owner requires login.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947C7B-685B-4109-BBAA-62B287A1F2A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274371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85470FA-600A-41C6-B958-3C6883C2624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0965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Scope and limitations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2F5638-4F61-4758-90BF-82E17730C4BA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5334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EC23B5-979B-4FDD-9589-FDBE3AC7B1C5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19050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EB9E1D-7748-4E23-8078-511490F60B93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5219700" cy="4333875"/>
          </a:xfrm>
          <a:prstGeom prst="rect">
            <a:avLst/>
          </a:prstGeom>
          <a:solidFill>
            <a:srgbClr val="E7F4F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F8DE00-9EED-4D6B-AFE5-BE849C1EC716}"/>
              </a:ext>
            </a:extLst>
          </p:cNvPr>
          <p:cNvSpPr>
            <a:spLocks noGrp="1"/>
          </p:cNvSpPr>
          <p:nvPr/>
        </p:nvSpPr>
        <p:spPr>
          <a:xfrm>
            <a:off x="6362700" y="1428750"/>
            <a:ext cx="5219700" cy="4333875"/>
          </a:xfrm>
          <a:prstGeom prst="rect">
            <a:avLst/>
          </a:prstGeom>
          <a:solidFill>
            <a:srgbClr val="FFF1E6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316AD7-074E-4076-A9E6-8A36B6ADFC70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Included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A2E0F6-3861-467C-B568-CBEE94C04920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4476750" cy="2905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 dirty="0">
                <a:solidFill>
                  <a:srgbClr val="292524"/>
                </a:solidFill>
                <a:latin typeface="Aptos"/>
                <a:ea typeface="Aptos"/>
                <a:cs typeface="Aptos"/>
              </a:rPr>
              <a:t>Public catalog for one shoe store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 dirty="0">
                <a:solidFill>
                  <a:srgbClr val="292524"/>
                </a:solidFill>
                <a:latin typeface="Aptos"/>
                <a:ea typeface="Aptos"/>
                <a:cs typeface="Aptos"/>
              </a:rPr>
              <a:t>Interactive </a:t>
            </a:r>
            <a:r>
              <a:rPr lang="en-PH" sz="1650" dirty="0">
                <a:solidFill>
                  <a:srgbClr val="292524"/>
                </a:solidFill>
                <a:latin typeface="Aptos"/>
                <a:ea typeface="Aptos"/>
                <a:cs typeface="Aptos"/>
              </a:rPr>
              <a:t>3d</a:t>
            </a:r>
            <a:r>
              <a:rPr sz="1650" dirty="0">
                <a:solidFill>
                  <a:srgbClr val="292524"/>
                </a:solidFill>
                <a:latin typeface="Aptos"/>
                <a:ea typeface="Aptos"/>
                <a:cs typeface="Aptos"/>
              </a:rPr>
              <a:t> model viewing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 dirty="0">
                <a:solidFill>
                  <a:srgbClr val="292524"/>
                </a:solidFill>
                <a:latin typeface="Aptos"/>
                <a:ea typeface="Aptos"/>
                <a:cs typeface="Aptos"/>
              </a:rPr>
              <a:t>Stock by size and color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 dirty="0">
                <a:solidFill>
                  <a:srgbClr val="292524"/>
                </a:solidFill>
                <a:latin typeface="Aptos"/>
                <a:ea typeface="Aptos"/>
                <a:cs typeface="Aptos"/>
              </a:rPr>
              <a:t>Guest pickup reservation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 dirty="0">
                <a:solidFill>
                  <a:srgbClr val="292524"/>
                </a:solidFill>
                <a:latin typeface="Aptos"/>
                <a:ea typeface="Aptos"/>
                <a:cs typeface="Aptos"/>
              </a:rPr>
              <a:t>Reservation reference and status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 dirty="0">
                <a:solidFill>
                  <a:srgbClr val="292524"/>
                </a:solidFill>
                <a:latin typeface="Aptos"/>
                <a:ea typeface="Aptos"/>
                <a:cs typeface="Aptos"/>
              </a:rPr>
              <a:t>Owner login and management tools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C90333-691C-44AB-B0DD-3AF0B832162B}"/>
              </a:ext>
            </a:extLst>
          </p:cNvPr>
          <p:cNvSpPr>
            <a:spLocks noGrp="1"/>
          </p:cNvSpPr>
          <p:nvPr/>
        </p:nvSpPr>
        <p:spPr>
          <a:xfrm>
            <a:off x="6629400" y="171450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Excluded from first version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91E5FE-3605-4717-A091-72C13BC4850D}"/>
              </a:ext>
            </a:extLst>
          </p:cNvPr>
          <p:cNvSpPr>
            <a:spLocks noGrp="1"/>
          </p:cNvSpPr>
          <p:nvPr/>
        </p:nvSpPr>
        <p:spPr>
          <a:xfrm>
            <a:off x="6629400" y="2362200"/>
            <a:ext cx="4476750" cy="2905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Online payment processing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Delivery and courier tracking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Multiple stores or seller accounts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Customer login and loyalty program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Augmented-reality fitting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Automatic 3D model generation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196493-64FF-45AF-A3A0-0C087D5B0FAF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Branded sample models require a valid asset license, creator attribution, and an academic-use disclaimer.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276954-3E46-417A-A56C-ED5DAB805D5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516018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6272C8-9BDB-4D30-B09A-BB353180EF4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0965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UI design and prototype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2D78C3-AADC-4E42-A890-404666DFCE67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5334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ED382C-25E5-4029-B13C-D9E9D4305704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19050"/>
          </a:xfrm>
          <a:prstGeom prst="rect">
            <a:avLst/>
          </a:prstGeom>
          <a:solidFill>
            <a:srgbClr val="D6D3D1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63B49D-822F-4380-8465-BFAFC7F7F138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4286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Customer product-viewing screen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34159" y="1762125"/>
            <a:ext cx="8123681" cy="4572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32FB4F6-9449-463B-BA4D-DD51CF3870D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956353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6A3DBF8-4BA6-4190-BA39-44314E06C53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SOLEVIEW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F4E1A7-2724-41F6-948B-FD41298A5697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66675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Closing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3DFFDA-DA29-42BE-A839-B4637E13C3CD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13811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D4F6B6-F035-410F-B828-39880C815585}"/>
              </a:ext>
            </a:extLst>
          </p:cNvPr>
          <p:cNvSpPr>
            <a:spLocks noGrp="1"/>
          </p:cNvSpPr>
          <p:nvPr/>
        </p:nvSpPr>
        <p:spPr>
          <a:xfrm>
            <a:off x="2333625" y="2314575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Static photos and manual stock inquiries slow customer decisions.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FCE05C-3187-4FA5-B9CA-235EC2FDC97D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9172575" cy="9525"/>
          </a:xfrm>
          <a:prstGeom prst="rect">
            <a:avLst/>
          </a:prstGeom>
          <a:solidFill>
            <a:srgbClr val="44403C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7569D4-9C8E-4285-B325-41ED62FC86D8}"/>
              </a:ext>
            </a:extLst>
          </p:cNvPr>
          <p:cNvSpPr>
            <a:spLocks noGrp="1"/>
          </p:cNvSpPr>
          <p:nvPr/>
        </p:nvSpPr>
        <p:spPr>
          <a:xfrm>
            <a:off x="685800" y="3114675"/>
            <a:ext cx="13811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3FDAE8-DB91-403A-8BDF-D504009CA74B}"/>
              </a:ext>
            </a:extLst>
          </p:cNvPr>
          <p:cNvSpPr>
            <a:spLocks noGrp="1"/>
          </p:cNvSpPr>
          <p:nvPr/>
        </p:nvSpPr>
        <p:spPr>
          <a:xfrm>
            <a:off x="2333625" y="3095625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3D viewing connects variant selection with pickup reservation.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16A10A-64B1-4CB2-9CB6-53944E75A640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9172575" cy="9525"/>
          </a:xfrm>
          <a:prstGeom prst="rect">
            <a:avLst/>
          </a:prstGeom>
          <a:solidFill>
            <a:srgbClr val="44403C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A4A947-5037-4ADD-B9D4-25431D8CD3FE}"/>
              </a:ext>
            </a:extLst>
          </p:cNvPr>
          <p:cNvSpPr>
            <a:spLocks noGrp="1"/>
          </p:cNvSpPr>
          <p:nvPr/>
        </p:nvSpPr>
        <p:spPr>
          <a:xfrm>
            <a:off x="685800" y="3895725"/>
            <a:ext cx="13811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Innovation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E28E79-5419-4E7D-9A78-2416746BE305}"/>
              </a:ext>
            </a:extLst>
          </p:cNvPr>
          <p:cNvSpPr>
            <a:spLocks noGrp="1"/>
          </p:cNvSpPr>
          <p:nvPr/>
        </p:nvSpPr>
        <p:spPr>
          <a:xfrm>
            <a:off x="2333625" y="3876675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Customers inspect and secure an available pair in one workflow.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A5BE30-14DD-41E9-A464-64B5A287ADFC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9172575" cy="9525"/>
          </a:xfrm>
          <a:prstGeom prst="rect">
            <a:avLst/>
          </a:prstGeom>
          <a:solidFill>
            <a:srgbClr val="44403C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29EE7-6A27-49C3-9318-8FCA60030C76}"/>
              </a:ext>
            </a:extLst>
          </p:cNvPr>
          <p:cNvSpPr>
            <a:spLocks noGrp="1"/>
          </p:cNvSpPr>
          <p:nvPr/>
        </p:nvSpPr>
        <p:spPr>
          <a:xfrm>
            <a:off x="685800" y="4676775"/>
            <a:ext cx="13811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1EBEF9-019F-47FF-93DC-1ADC0370CE69}"/>
              </a:ext>
            </a:extLst>
          </p:cNvPr>
          <p:cNvSpPr>
            <a:spLocks noGrp="1"/>
          </p:cNvSpPr>
          <p:nvPr/>
        </p:nvSpPr>
        <p:spPr>
          <a:xfrm>
            <a:off x="2333625" y="4657725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One shoe store with public browsing and secure owner tools.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1F175F-B5C1-4F39-8E81-9020663BB031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9172575" cy="9525"/>
          </a:xfrm>
          <a:prstGeom prst="rect">
            <a:avLst/>
          </a:prstGeom>
          <a:solidFill>
            <a:srgbClr val="44403C"/>
          </a:solidFill>
          <a:ln w="0"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2595C7-C738-47CA-9E90-CC3911C04B7B}"/>
              </a:ext>
            </a:extLst>
          </p:cNvPr>
          <p:cNvSpPr>
            <a:spLocks noGrp="1"/>
          </p:cNvSpPr>
          <p:nvPr/>
        </p:nvSpPr>
        <p:spPr>
          <a:xfrm>
            <a:off x="10096500" y="528637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9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A8594E-2D45-4D9D-807A-FB8278B11115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8572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A8A29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8A29E"/>
                </a:solidFill>
                <a:latin typeface="Aptos"/>
                <a:ea typeface="Aptos"/>
                <a:cs typeface="Aptos"/>
              </a:rPr>
              <a:t>Ready to explain reservation states, stock handling, GLB licensing, and project boundaries.</a:t>
            </a:r>
          </a:p>
        </p:txBody>
      </p:sp>
    </p:spTree>
    <p:extLst>
      <p:ext uri="{BB962C8B-B14F-4D97-AF65-F5344CB8AC3E}">
        <p14:creationId xmlns:p14="http://schemas.microsoft.com/office/powerpoint/2010/main" val="11892159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844</Words>
  <Application>Microsoft Office PowerPoint</Application>
  <DocSecurity>0</DocSecurity>
  <PresentationFormat>Widescreen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Ariel Casipe</cp:lastModifiedBy>
  <cp:revision>1</cp:revision>
  <dcterms:created xsi:type="dcterms:W3CDTF">2026-09-08T10:49:08Z</dcterms:created>
  <dcterms:modified xsi:type="dcterms:W3CDTF">2026-09-08T11:09:27Z</dcterms:modified>
</cp:coreProperties>
</file>