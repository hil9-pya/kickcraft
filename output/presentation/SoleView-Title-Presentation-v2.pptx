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84830b4f5746409a" /><Relationship Type="http://schemas.openxmlformats.org/officeDocument/2006/relationships/extended-properties" Target="/docProps/app.xml" Id="R075412fa8d3e45f1" /><Relationship Type="http://schemas.openxmlformats.org/officeDocument/2006/relationships/officeDocument" Target="/ppt/presentation.xml" Id="R16f07190d42741e2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47da62543ca04396"/>
  </p:sldMasterIdLst>
  <p:notesMasterIdLst>
    <p:notesMasterId xmlns:r="http://schemas.openxmlformats.org/officeDocument/2006/relationships" r:id="R0601db6635ec49f8"/>
  </p:notesMasterIdLst>
  <p:sldIdLst>
    <p:sldId xmlns:r="http://schemas.openxmlformats.org/officeDocument/2006/relationships" id="256" r:id="Rb751c8218a964b76"/>
    <p:sldId xmlns:r="http://schemas.openxmlformats.org/officeDocument/2006/relationships" id="257" r:id="R67c505feb02c40f0"/>
    <p:sldId xmlns:r="http://schemas.openxmlformats.org/officeDocument/2006/relationships" id="258" r:id="R383d1a8773214cd7"/>
    <p:sldId xmlns:r="http://schemas.openxmlformats.org/officeDocument/2006/relationships" id="259" r:id="Rf100af23ac744770"/>
    <p:sldId xmlns:r="http://schemas.openxmlformats.org/officeDocument/2006/relationships" id="260" r:id="Re652acb5946d4366"/>
    <p:sldId xmlns:r="http://schemas.openxmlformats.org/officeDocument/2006/relationships" id="261" r:id="R77d1fe61ba494c44"/>
    <p:sldId xmlns:r="http://schemas.openxmlformats.org/officeDocument/2006/relationships" id="262" r:id="R24493a8f19f74b8a"/>
    <p:sldId xmlns:r="http://schemas.openxmlformats.org/officeDocument/2006/relationships" id="263" r:id="Rfd55253870994a2e"/>
    <p:sldId xmlns:r="http://schemas.openxmlformats.org/officeDocument/2006/relationships" id="264" r:id="Rf408137502bd4b8a"/>
    <p:sldId xmlns:r="http://schemas.openxmlformats.org/officeDocument/2006/relationships" id="265" r:id="Rc65c8230480b4801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725373f9b6594718" /><Relationship Type="http://schemas.openxmlformats.org/officeDocument/2006/relationships/slideMaster" Target="/ppt/slideMasters/slideMaster1.xml" Id="R47da62543ca04396" /><Relationship Type="http://schemas.openxmlformats.org/officeDocument/2006/relationships/notesMaster" Target="/ppt/notesMasters/notesMaster1.xml" Id="R0601db6635ec49f8" /><Relationship Type="http://schemas.openxmlformats.org/officeDocument/2006/relationships/presProps" Target="/ppt/presProps.xml" Id="R46331face0e3438e" /><Relationship Type="http://schemas.openxmlformats.org/officeDocument/2006/relationships/tableStyles" Target="/ppt/tableStyles.xml" Id="R9065d117b04c46a7" /><Relationship Type="http://schemas.openxmlformats.org/officeDocument/2006/relationships/slide" Target="/ppt/slides/slide1.xml" Id="Rb751c8218a964b76" /><Relationship Type="http://schemas.openxmlformats.org/officeDocument/2006/relationships/slide" Target="/ppt/slides/slide2.xml" Id="R67c505feb02c40f0" /><Relationship Type="http://schemas.openxmlformats.org/officeDocument/2006/relationships/slide" Target="/ppt/slides/slide3.xml" Id="R383d1a8773214cd7" /><Relationship Type="http://schemas.openxmlformats.org/officeDocument/2006/relationships/slide" Target="/ppt/slides/slide4.xml" Id="Rf100af23ac744770" /><Relationship Type="http://schemas.openxmlformats.org/officeDocument/2006/relationships/slide" Target="/ppt/slides/slide5.xml" Id="Re652acb5946d4366" /><Relationship Type="http://schemas.openxmlformats.org/officeDocument/2006/relationships/slide" Target="/ppt/slides/slide6.xml" Id="R77d1fe61ba494c44" /><Relationship Type="http://schemas.openxmlformats.org/officeDocument/2006/relationships/slide" Target="/ppt/slides/slide7.xml" Id="R24493a8f19f74b8a" /><Relationship Type="http://schemas.openxmlformats.org/officeDocument/2006/relationships/slide" Target="/ppt/slides/slide8.xml" Id="Rfd55253870994a2e" /><Relationship Type="http://schemas.openxmlformats.org/officeDocument/2006/relationships/slide" Target="/ppt/slides/slide9.xml" Id="Rf408137502bd4b8a" /><Relationship Type="http://schemas.openxmlformats.org/officeDocument/2006/relationships/slide" Target="/ppt/slides/slide10.xml" Id="Rc65c8230480b480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67973698d39541c8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a1433be0ca974386" /><Relationship Type="http://schemas.openxmlformats.org/officeDocument/2006/relationships/notesMaster" Target="/ppt/notesMasters/notesMaster1.xml" Id="R381ad78b2ec946aa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d7d808c9139b4435" /><Relationship Type="http://schemas.openxmlformats.org/officeDocument/2006/relationships/notesMaster" Target="/ppt/notesMasters/notesMaster1.xml" Id="R4cf5bbfd6dbc4dc1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4d5ddc0a5d914595" /><Relationship Type="http://schemas.openxmlformats.org/officeDocument/2006/relationships/notesMaster" Target="/ppt/notesMasters/notesMaster1.xml" Id="R6d92aa289f26427f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89d3a5c8bfa14dce" /><Relationship Type="http://schemas.openxmlformats.org/officeDocument/2006/relationships/notesMaster" Target="/ppt/notesMasters/notesMaster1.xml" Id="R6ce4c6fe49cc4ba1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b20bb72f2ea7467e" /><Relationship Type="http://schemas.openxmlformats.org/officeDocument/2006/relationships/notesMaster" Target="/ppt/notesMasters/notesMaster1.xml" Id="Rde7655e9a3c345c7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59699cc420f24644" /><Relationship Type="http://schemas.openxmlformats.org/officeDocument/2006/relationships/notesMaster" Target="/ppt/notesMasters/notesMaster1.xml" Id="Rf291de2d06564e39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46c8dd0754e6419c" /><Relationship Type="http://schemas.openxmlformats.org/officeDocument/2006/relationships/notesMaster" Target="/ppt/notesMasters/notesMaster1.xml" Id="Rc4f453443302498e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2e468862226f40a8" /><Relationship Type="http://schemas.openxmlformats.org/officeDocument/2006/relationships/notesMaster" Target="/ppt/notesMasters/notesMaster1.xml" Id="R535fe0a3464f45c5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aebdd46765324f4f" /><Relationship Type="http://schemas.openxmlformats.org/officeDocument/2006/relationships/notesMaster" Target="/ppt/notesMasters/notesMaster1.xml" Id="Rca7e4f4e5ce1447b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cf6d9e9e7f1e4ab7" /><Relationship Type="http://schemas.openxmlformats.org/officeDocument/2006/relationships/notesMaster" Target="/ppt/notesMasters/notesMaster1.xml" Id="R41b97b135f97489c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Image source: https://images.unsplash.com/photo-1549298916-b41d501d3772</a:t>
            </a:r>
          </a:p>
          <a:p xmlns:a="http://schemas.openxmlformats.org/drawingml/2006/main">
            <a:r>
              <a:t>Replace bracketed group information before submission.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Image source: https://images.unsplash.com/photo-1460353581641-37baddab0fa2</a:t>
            </a:r>
          </a:p>
          <a:p xmlns:a="http://schemas.openxmlformats.org/drawingml/2006/main">
            <a:r>
              <a:t>Target-user description is the project team's proposed scope.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Image source: https://images.unsplash.com/photo-1608231387042-66d1773070a5</a:t>
            </a:r>
          </a:p>
          <a:p xmlns:a="http://schemas.openxmlformats.org/drawingml/2006/main">
            <a:r>
              <a:t>Problem statement is a project hypothesis. Validate it through a short shopper survey during testing.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Current-process description represents the proposed problem framing. Validate it through observation or user interviews.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Workflow reflects the planned system scope and current prototype capabilities.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Innovation statement follows the required sentence structure from the instructor handout. The proposed measurement needs user testing before reporting results.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Sample GLB source used in prototype: https://github.com/KhronosGroup/glTF-Sample-Assets/tree/main/Models/MaterialsVariantsShoe</a:t>
            </a:r>
          </a:p>
          <a:p xmlns:a="http://schemas.openxmlformats.org/drawingml/2006/main">
            <a:r>
              <a:t>License: Creative Commons Attribution 4.0 International, © 2021 Shopify.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Scope follows the two-week implementation limit described in the project guide.</a:t>
            </a:r>
          </a:p>
          <a:p xmlns:a="http://schemas.openxmlformats.org/drawingml/2006/main">
            <a:r>
              <a:t>Brand and asset guidance: https://www.nike.com/help/a/nike-corporate-details/app</a:t>
            </a:r>
          </a:p>
          <a:p xmlns:a="http://schemas.openxmlformats.org/drawingml/2006/main">
            <a:r>
              <a:t>Sketchfab license guidance: https://sketchfab.com/licenses</a:t>
            </a:r>
          </a:p>
          <a:p xmlns:a="http://schemas.openxmlformats.org/drawingml/2006/main">
            <a:r>
              <a:t>Downloaded Creative Commons models require the attribution shown on each model page. A model license does not by itself grant brand authorization.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UI concept generated for the SoleView prototype. The reservation form and owner confirmation screen follow this product-viewing step.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Closing slide. Invite questions about implementation, risk, testing, and scope.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0b08b06dc2341a9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2be629bcaa334f9b" /><Relationship Type="http://schemas.openxmlformats.org/officeDocument/2006/relationships/slideLayout" Target="/ppt/slideLayouts/slideLayout1.xml" Id="R2c50fb52d5da47d5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2c50fb52d5da47d5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2e1e99d0a974ef3" /><Relationship Type="http://schemas.openxmlformats.org/officeDocument/2006/relationships/image" Target="/ppt/media/image.jpeg" Id="Rde6c5d4001754c12" /><Relationship Type="http://schemas.openxmlformats.org/officeDocument/2006/relationships/notesSlide" Target="/ppt/notesSlides/notesSlide1.xml" Id="R71124dd54b374abc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a79f22101c04742" /><Relationship Type="http://schemas.openxmlformats.org/officeDocument/2006/relationships/image" Target="/ppt/media/image2.jpeg" Id="Rfaf1811d7dde4c6b" /><Relationship Type="http://schemas.openxmlformats.org/officeDocument/2006/relationships/notesSlide" Target="/ppt/notesSlides/notesSlide2.xml" Id="R8f6401e51251483d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bdcb96e3f0445bf" /><Relationship Type="http://schemas.openxmlformats.org/officeDocument/2006/relationships/image" Target="/ppt/media/image3.jpeg" Id="R9a3aae0edb84429d" /><Relationship Type="http://schemas.openxmlformats.org/officeDocument/2006/relationships/notesSlide" Target="/ppt/notesSlides/notesSlide3.xml" Id="Rd499d87e56d94a39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f35848b75244c03" /><Relationship Type="http://schemas.openxmlformats.org/officeDocument/2006/relationships/notesSlide" Target="/ppt/notesSlides/notesSlide4.xml" Id="Rd716dddd2f4449fa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69b0ec496a94426" /><Relationship Type="http://schemas.openxmlformats.org/officeDocument/2006/relationships/notesSlide" Target="/ppt/notesSlides/notesSlide5.xml" Id="R1e61b6b5ee3b4ed5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e61d124f2474bc7" /><Relationship Type="http://schemas.openxmlformats.org/officeDocument/2006/relationships/notesSlide" Target="/ppt/notesSlides/notesSlide6.xml" Id="Rd7ef2f08eaf54f1f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a8a4443ef4a44a0" /><Relationship Type="http://schemas.openxmlformats.org/officeDocument/2006/relationships/notesSlide" Target="/ppt/notesSlides/notesSlide7.xml" Id="R8ab24cf9b17d4739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f81d5b68b0b4e79" /><Relationship Type="http://schemas.openxmlformats.org/officeDocument/2006/relationships/notesSlide" Target="/ppt/notesSlides/notesSlide8.xml" Id="R17e2bdb486524e0d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6a39a066be24a70" /><Relationship Type="http://schemas.openxmlformats.org/officeDocument/2006/relationships/image" Target="/ppt/media/image.png" Id="R0b8d5321e8264713" /><Relationship Type="http://schemas.openxmlformats.org/officeDocument/2006/relationships/notesSlide" Target="/ppt/notesSlides/notesSlide9.xml" Id="Rd0e9b58ec1e64742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14b5ffd723d495e" /><Relationship Type="http://schemas.openxmlformats.org/officeDocument/2006/relationships/notesSlide" Target="/ppt/notesSlides/notesSlide10.xml" Id="R6284e27a3698409d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C191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e6c5d4001754c12"/>
          <a:srcRect xmlns:a="http://schemas.openxmlformats.org/drawingml/2006/main" l="23704" t="0" r="23704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143750" y="0"/>
            <a:ext cx="504825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8BF3DDC-3B3B-4840-871D-7112A33F08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71437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1917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EE5F1EE-8616-4B9B-9EE5-46BB5DA630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09600"/>
            <a:ext cx="285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5F5F4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F5F5F4"/>
                </a:solidFill>
                <a:latin typeface="Aptos"/>
                <a:ea typeface="Aptos"/>
                <a:cs typeface="Aptos"/>
              </a:rPr>
              <a:t>SOLEVIEW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3A4334C-595D-4401-A9D0-52820FED4F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190625"/>
            <a:ext cx="6858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5309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CFD030F-1EEF-4734-B4D7-FB51F4098A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33550"/>
            <a:ext cx="5905500" cy="2190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41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41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3D Shoe Viewing and</a:t>
            </a:r>
          </a:p>
          <a:p xmlns:a="http://schemas.openxmlformats.org/drawingml/2006/main">
            <a:pPr algn="l">
              <a:defRPr sz="41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41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Pickup Reservation</a:t>
            </a:r>
          </a:p>
          <a:p xmlns:a="http://schemas.openxmlformats.org/drawingml/2006/main">
            <a:pPr algn="l">
              <a:defRPr sz="41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41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System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5563CE0-AE7C-4AD7-89CF-32B67CA377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476750"/>
            <a:ext cx="4476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D6D3D1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D6D3D1"/>
                </a:solidFill>
                <a:latin typeface="Aptos"/>
                <a:ea typeface="Aptos"/>
                <a:cs typeface="Aptos"/>
              </a:rPr>
              <a:t>Integrative Programming 2</a:t>
            </a:r>
          </a:p>
          <a:p xmlns:a="http://schemas.openxmlformats.org/drawingml/2006/main">
            <a:pPr algn="l">
              <a:defRPr sz="1725" b="0">
                <a:solidFill>
                  <a:srgbClr val="D6D3D1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D6D3D1"/>
                </a:solidFill>
                <a:latin typeface="Aptos"/>
                <a:ea typeface="Aptos"/>
                <a:cs typeface="Aptos"/>
              </a:rPr>
              <a:t>Prefinal Week 1 Title Presentation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7E27FE9-8DDC-4984-B04C-2F8C261ED0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619750"/>
            <a:ext cx="4762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F5D0B5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F5D0B5"/>
                </a:solidFill>
                <a:latin typeface="Aptos"/>
                <a:ea typeface="Aptos"/>
                <a:cs typeface="Aptos"/>
              </a:rPr>
              <a:t>Group members: [Add names]</a:t>
            </a:r>
          </a:p>
          <a:p xmlns:a="http://schemas.openxmlformats.org/drawingml/2006/main">
            <a:pPr algn="l">
              <a:defRPr sz="1425" b="0">
                <a:solidFill>
                  <a:srgbClr val="F5D0B5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F5D0B5"/>
                </a:solidFill>
                <a:latin typeface="Aptos"/>
                <a:ea typeface="Aptos"/>
                <a:cs typeface="Aptos"/>
              </a:rPr>
              <a:t>Section: [Add section]</a:t>
            </a:r>
          </a:p>
        </p:txBody>
      </p:sp>
    </p:spTree>
    <p:extLst>
      <p:ext uri="{BB962C8B-B14F-4D97-AF65-F5344CB8AC3E}">
        <p14:creationId xmlns:p14="http://schemas.microsoft.com/office/powerpoint/2010/main" val="6831393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AF8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1639B75-6564-47DB-B670-5352CFABCF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096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292524"/>
                </a:solidFill>
                <a:latin typeface="Aptos"/>
                <a:ea typeface="Aptos"/>
                <a:cs typeface="Aptos"/>
              </a:defRPr>
            </a:pPr>
            <a:r>
              <a:rPr sz="3225" b="1">
                <a:solidFill>
                  <a:srgbClr val="292524"/>
                </a:solidFill>
                <a:latin typeface="Aptos"/>
                <a:ea typeface="Aptos"/>
                <a:cs typeface="Aptos"/>
              </a:rPr>
              <a:t>Target users and context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42F70AA-FFFA-47DF-8AD0-C91A6CD255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495300"/>
            <a:ext cx="533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B45309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B45309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C8D25A3-8E8B-40B1-A4E7-FD76F230D9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668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3D1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1EAFEB5-6675-4EF3-AD25-375DE43675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76375"/>
            <a:ext cx="285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B45309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B45309"/>
                </a:solidFill>
                <a:latin typeface="Aptos"/>
                <a:ea typeface="Aptos"/>
                <a:cs typeface="Aptos"/>
              </a:rPr>
              <a:t>Primary user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1463D72-80A1-46F2-8037-C9A01436AF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28800"/>
            <a:ext cx="5143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292524"/>
                </a:solidFill>
                <a:latin typeface="Aptos"/>
                <a:ea typeface="Aptos"/>
                <a:cs typeface="Aptos"/>
              </a:defRPr>
            </a:pPr>
            <a:r>
              <a:rPr sz="2775" b="1">
                <a:solidFill>
                  <a:srgbClr val="292524"/>
                </a:solidFill>
                <a:latin typeface="Aptos"/>
                <a:ea typeface="Aptos"/>
                <a:cs typeface="Aptos"/>
              </a:rPr>
              <a:t>Customers of one shoe store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9DD9A45-376F-4D55-A699-14313C3966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0"/>
            <a:ext cx="500062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78716C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78716C"/>
                </a:solidFill>
                <a:latin typeface="Aptos"/>
                <a:ea typeface="Aptos"/>
                <a:cs typeface="Aptos"/>
              </a:rPr>
              <a:t>Customers inspect branded shoes, check available variants, and reserve a pair before visiting the store.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1BE2BCE-79B2-4343-9C5F-5D74F2D2C7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43350"/>
            <a:ext cx="50006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3D1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DA4362E-6A34-4F1E-B938-099ED5E25E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67200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B45309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B45309"/>
                </a:solidFill>
                <a:latin typeface="Aptos"/>
                <a:ea typeface="Aptos"/>
                <a:cs typeface="Aptos"/>
              </a:rPr>
              <a:t>Secondary user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151C789-85D0-48C1-9E30-D147CA081F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86300"/>
            <a:ext cx="5000625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292524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292524"/>
                </a:solidFill>
                <a:latin typeface="Aptos"/>
                <a:ea typeface="Aptos"/>
                <a:cs typeface="Aptos"/>
              </a:rPr>
              <a:t>The store owner signs in to manage products, GLB models, size and color stock, and pickup reservations.</a:t>
            </a:r>
          </a:p>
        </p:txBody>
      </p:sp>
      <p:pic>
        <p:nvPicPr>
          <p:cNvPr id="2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af1811d7dde4c6b"/>
          <a:srcRect xmlns:a="http://schemas.openxmlformats.org/drawingml/2006/main" l="11100" t="0" r="1110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191250" y="1428750"/>
            <a:ext cx="5391150" cy="4619625"/>
          </a:xfrm>
          <a:prstGeom xmlns:a="http://schemas.openxmlformats.org/drawingml/2006/main" prst="rect">
            <a:avLst/>
          </a:prstGeom>
        </p:spPr>
      </p:pic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84E1E7F-9ADD-48A7-8D66-CB4B25347C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285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78716C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78716C"/>
                </a:solidFill>
                <a:latin typeface="Aptos"/>
                <a:ea typeface="Aptos"/>
                <a:cs typeface="Aptos"/>
              </a:rPr>
              <a:t>SoleView proposal</a:t>
            </a:r>
          </a:p>
        </p:txBody>
      </p:sp>
    </p:spTree>
    <p:extLst>
      <p:ext uri="{BB962C8B-B14F-4D97-AF65-F5344CB8AC3E}">
        <p14:creationId xmlns:p14="http://schemas.microsoft.com/office/powerpoint/2010/main" val="170241084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5154B18-873A-43DD-92BC-F27E567638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096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292524"/>
                </a:solidFill>
                <a:latin typeface="Aptos"/>
                <a:ea typeface="Aptos"/>
                <a:cs typeface="Aptos"/>
              </a:defRPr>
            </a:pPr>
            <a:r>
              <a:rPr sz="3225" b="1">
                <a:solidFill>
                  <a:srgbClr val="292524"/>
                </a:solidFill>
                <a:latin typeface="Aptos"/>
                <a:ea typeface="Aptos"/>
                <a:cs typeface="Aptos"/>
              </a:rPr>
              <a:t>Problem statement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2593CC4-F90D-4EA5-B8C8-86373EB67A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495300"/>
            <a:ext cx="533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B45309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B45309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FE1E7DE-C847-4A97-8825-C9CF805C9F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668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3D1"/>
          </a:solidFill>
          <a:ln xmlns:a="http://schemas.openxmlformats.org/drawingml/2006/main" w="0">
            <a:noFill/>
          </a:ln>
        </p:spPr>
      </p:sp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a3aae0edb84429d"/>
          <a:srcRect xmlns:a="http://schemas.openxmlformats.org/drawingml/2006/main" l="12500" t="0" r="1250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09600" y="1428750"/>
            <a:ext cx="4476750" cy="447675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F49CA18-DA5D-439B-B1C3-2D16AF6D29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7375" y="1524000"/>
            <a:ext cx="54292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292524"/>
                </a:solidFill>
                <a:latin typeface="Aptos"/>
                <a:ea typeface="Aptos"/>
                <a:cs typeface="Aptos"/>
              </a:defRPr>
            </a:pPr>
            <a:r>
              <a:rPr sz="2700" b="1">
                <a:solidFill>
                  <a:srgbClr val="292524"/>
                </a:solidFill>
                <a:latin typeface="Aptos"/>
                <a:ea typeface="Aptos"/>
                <a:cs typeface="Aptos"/>
              </a:rPr>
              <a:t>Customers cannot inspect shoes or confirm stock quickly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0C43E64-79BD-4941-A40E-68721FEDDA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7375" y="2857500"/>
            <a:ext cx="5429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292524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292524"/>
                </a:solidFill>
                <a:latin typeface="Aptos"/>
                <a:ea typeface="Aptos"/>
                <a:cs typeface="Aptos"/>
              </a:rPr>
              <a:t>Static photos limit product inspection. Size and color availability often requires a separate message to the store.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735451E-A1DD-4050-8B57-14A361C03D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7375" y="4000500"/>
            <a:ext cx="762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5309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1AB6E5F-8B37-41CB-80FD-C68E1DF3C9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7375" y="4286250"/>
            <a:ext cx="2190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B45309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B45309"/>
                </a:solidFill>
                <a:latin typeface="Aptos"/>
                <a:ea typeface="Aptos"/>
                <a:cs typeface="Aptos"/>
              </a:rPr>
              <a:t>Why it matters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11E956A-A589-418A-9F1F-53C328587D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7375" y="4686300"/>
            <a:ext cx="54292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78716C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78716C"/>
                </a:solidFill>
                <a:latin typeface="Aptos"/>
                <a:ea typeface="Aptos"/>
                <a:cs typeface="Aptos"/>
              </a:rPr>
              <a:t>Customers spend more time asking questions and may visit the store without knowing whether their preferred variant remains available.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E4C3FAC-DD5E-40CD-9091-9EB6FC634C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285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78716C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78716C"/>
                </a:solidFill>
                <a:latin typeface="Aptos"/>
                <a:ea typeface="Aptos"/>
                <a:cs typeface="Aptos"/>
              </a:rPr>
              <a:t>SoleView proposal</a:t>
            </a:r>
          </a:p>
        </p:txBody>
      </p:sp>
    </p:spTree>
    <p:extLst>
      <p:ext uri="{BB962C8B-B14F-4D97-AF65-F5344CB8AC3E}">
        <p14:creationId xmlns:p14="http://schemas.microsoft.com/office/powerpoint/2010/main" val="15605499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AF8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FB7233F-203F-43A3-AA99-891D79A587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096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292524"/>
                </a:solidFill>
                <a:latin typeface="Aptos"/>
                <a:ea typeface="Aptos"/>
                <a:cs typeface="Aptos"/>
              </a:defRPr>
            </a:pPr>
            <a:r>
              <a:rPr sz="3225" b="1">
                <a:solidFill>
                  <a:srgbClr val="292524"/>
                </a:solidFill>
                <a:latin typeface="Aptos"/>
                <a:ea typeface="Aptos"/>
                <a:cs typeface="Aptos"/>
              </a:rPr>
              <a:t>Current process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BD7159E-9A55-46B2-9002-3B748DC18E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495300"/>
            <a:ext cx="533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B45309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B45309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DD15415-57D4-49DE-9A94-102B43B1E1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668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3D1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51203C4-D345-46E1-8D8C-9AFAC998A4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428750"/>
            <a:ext cx="5905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B45309"/>
                </a:solidFill>
                <a:latin typeface="Aptos"/>
                <a:ea typeface="Aptos"/>
                <a:cs typeface="Aptos"/>
              </a:defRPr>
            </a:pPr>
            <a:r>
              <a:rPr sz="2325" b="1">
                <a:solidFill>
                  <a:srgbClr val="B45309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F98D80D-A16A-4FED-8C61-0A0B4A82D3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1447800"/>
            <a:ext cx="3714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292524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292524"/>
                </a:solidFill>
                <a:latin typeface="Aptos"/>
                <a:ea typeface="Aptos"/>
                <a:cs typeface="Aptos"/>
              </a:rPr>
              <a:t>Browse static photos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3D502EA-AADF-44E8-80DA-BB6327CC5F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1447800"/>
            <a:ext cx="557212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78716C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78716C"/>
                </a:solidFill>
                <a:latin typeface="Aptos"/>
                <a:ea typeface="Aptos"/>
                <a:cs typeface="Aptos"/>
              </a:rPr>
              <a:t>Customer checks a small set of fixed product angles.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1F25521-4372-4C02-8D65-5FF196F195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247900"/>
            <a:ext cx="103536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3D1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083CF7B-D42E-4E51-80FF-87A1B1FCAA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590800"/>
            <a:ext cx="5905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B45309"/>
                </a:solidFill>
                <a:latin typeface="Aptos"/>
                <a:ea typeface="Aptos"/>
                <a:cs typeface="Aptos"/>
              </a:defRPr>
            </a:pPr>
            <a:r>
              <a:rPr sz="2325" b="1">
                <a:solidFill>
                  <a:srgbClr val="B45309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AFF34F8-FDEE-461A-AF79-C215FBE602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2609850"/>
            <a:ext cx="3714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292524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292524"/>
                </a:solidFill>
                <a:latin typeface="Aptos"/>
                <a:ea typeface="Aptos"/>
                <a:cs typeface="Aptos"/>
              </a:rPr>
              <a:t>Message the store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D98C702-170D-4557-910F-1E8B4D24A5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2609850"/>
            <a:ext cx="557212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78716C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78716C"/>
                </a:solidFill>
                <a:latin typeface="Aptos"/>
                <a:ea typeface="Aptos"/>
                <a:cs typeface="Aptos"/>
              </a:rPr>
              <a:t>Customer asks whether a size and color are still available.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F2FA841-906A-4673-8805-670B35754D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409950"/>
            <a:ext cx="103536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3D1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E0FA6FC-E2C1-4629-9AE8-692FF5DEF8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752850"/>
            <a:ext cx="5905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B45309"/>
                </a:solidFill>
                <a:latin typeface="Aptos"/>
                <a:ea typeface="Aptos"/>
                <a:cs typeface="Aptos"/>
              </a:defRPr>
            </a:pPr>
            <a:r>
              <a:rPr sz="2325" b="1">
                <a:solidFill>
                  <a:srgbClr val="B45309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1AF5520-460D-4194-B3E2-483B2E0037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3771900"/>
            <a:ext cx="3714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292524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292524"/>
                </a:solidFill>
                <a:latin typeface="Aptos"/>
                <a:ea typeface="Aptos"/>
                <a:cs typeface="Aptos"/>
              </a:rPr>
              <a:t>Wait for confirmation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905D389-E192-4A0C-8849-41828F1FC2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3771900"/>
            <a:ext cx="557212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78716C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78716C"/>
                </a:solidFill>
                <a:latin typeface="Aptos"/>
                <a:ea typeface="Aptos"/>
                <a:cs typeface="Aptos"/>
              </a:rPr>
              <a:t>Staff manually checks stock and replies when available.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8246931-9DC1-4962-BF4C-30B01B5E0E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572000"/>
            <a:ext cx="103536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3D1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C04EAA2-CF47-4785-8503-2EE86CBBFE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914900"/>
            <a:ext cx="5905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B45309"/>
                </a:solidFill>
                <a:latin typeface="Aptos"/>
                <a:ea typeface="Aptos"/>
                <a:cs typeface="Aptos"/>
              </a:defRPr>
            </a:pPr>
            <a:r>
              <a:rPr sz="2325" b="1">
                <a:solidFill>
                  <a:srgbClr val="B45309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2C2C209-15B0-4B97-A4E7-5CF93DD0BA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933950"/>
            <a:ext cx="3714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292524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292524"/>
                </a:solidFill>
                <a:latin typeface="Aptos"/>
                <a:ea typeface="Aptos"/>
                <a:cs typeface="Aptos"/>
              </a:rPr>
              <a:t>Visit without a hold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01D60B0-F5DD-47D3-98CF-B59B90D917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4933950"/>
            <a:ext cx="557212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78716C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78716C"/>
                </a:solidFill>
                <a:latin typeface="Aptos"/>
                <a:ea typeface="Aptos"/>
                <a:cs typeface="Aptos"/>
              </a:rPr>
              <a:t>The selected pair may sell before the customer arrives.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4123B06-25CA-45EE-A66A-FD8AA90DA6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00750"/>
            <a:ext cx="109728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1E6"/>
          </a:solidFill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6026069-FB2C-46F6-A767-634299A7F7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057900"/>
            <a:ext cx="9906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B45309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B45309"/>
                </a:solidFill>
                <a:latin typeface="Aptos"/>
                <a:ea typeface="Aptos"/>
                <a:cs typeface="Aptos"/>
              </a:rPr>
              <a:t>Main pain point: product inspection and pickup availability require separate manual steps.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095CB79-93E9-4BFD-8FC5-96AA0A5BA4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285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78716C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78716C"/>
                </a:solidFill>
                <a:latin typeface="Aptos"/>
                <a:ea typeface="Aptos"/>
                <a:cs typeface="Aptos"/>
              </a:rPr>
              <a:t>SoleView proposal</a:t>
            </a:r>
          </a:p>
        </p:txBody>
      </p:sp>
    </p:spTree>
    <p:extLst>
      <p:ext uri="{BB962C8B-B14F-4D97-AF65-F5344CB8AC3E}">
        <p14:creationId xmlns:p14="http://schemas.microsoft.com/office/powerpoint/2010/main" val="565531802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8111F7A-7394-4A15-B274-0894FA3830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096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292524"/>
                </a:solidFill>
                <a:latin typeface="Aptos"/>
                <a:ea typeface="Aptos"/>
                <a:cs typeface="Aptos"/>
              </a:defRPr>
            </a:pPr>
            <a:r>
              <a:rPr sz="3225" b="1">
                <a:solidFill>
                  <a:srgbClr val="292524"/>
                </a:solidFill>
                <a:latin typeface="Aptos"/>
                <a:ea typeface="Aptos"/>
                <a:cs typeface="Aptos"/>
              </a:rPr>
              <a:t>Proposed solution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1B1B480-4BA4-4801-AC44-C362BAF45B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495300"/>
            <a:ext cx="533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B45309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B45309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EF3E0E7-A060-4E6B-A56B-4BFBC18956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668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3D1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A12F003-98B0-4EB2-82DC-F3067496CF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81125"/>
            <a:ext cx="1047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78716C"/>
                </a:solidFill>
                <a:latin typeface="Aptos"/>
                <a:ea typeface="Aptos"/>
                <a:cs typeface="Aptos"/>
              </a:defRPr>
            </a:pPr>
            <a:r>
              <a:rPr sz="2025" b="0">
                <a:solidFill>
                  <a:srgbClr val="78716C"/>
                </a:solidFill>
                <a:latin typeface="Aptos"/>
                <a:ea typeface="Aptos"/>
                <a:cs typeface="Aptos"/>
              </a:rPr>
              <a:t>SoleView connects product inspection, stock checking, and pickup reservation in one workflow.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7AA2009-8E2F-4603-AF01-F3D23AA80B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33625"/>
            <a:ext cx="184785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8F5"/>
          </a:solidFill>
          <a:ln xmlns:a="http://schemas.openxmlformats.org/drawingml/2006/main" w="9525">
            <a:solidFill>
              <a:srgbClr val="D6D3D1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A86CA37-FB28-4466-90FF-86042477E1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524125"/>
            <a:ext cx="4953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78716C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78716C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FD3AD9F-CD36-45A2-BE4A-0FACEB5BAD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219450"/>
            <a:ext cx="15049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292524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292524"/>
                </a:solidFill>
                <a:latin typeface="Aptos"/>
                <a:ea typeface="Aptos"/>
                <a:cs typeface="Aptos"/>
              </a:rPr>
              <a:t>Browse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59F406E-7D38-4272-98C6-3A3CF3169B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762375"/>
            <a:ext cx="15049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78716C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78716C"/>
                </a:solidFill>
                <a:latin typeface="Aptos"/>
                <a:ea typeface="Aptos"/>
                <a:cs typeface="Aptos"/>
              </a:rPr>
              <a:t>Open the store's shoe catalog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052767D-44F2-43A7-AE5C-93ECEDADB9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3505200"/>
            <a:ext cx="3524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3D1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F481F51-342E-4E3F-8991-27D4CB1A45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9875" y="2333625"/>
            <a:ext cx="184785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1E6"/>
          </a:solidFill>
          <a:ln xmlns:a="http://schemas.openxmlformats.org/drawingml/2006/main" w="19050">
            <a:solidFill>
              <a:srgbClr val="B45309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28FDF20-DD10-470A-9CFD-0993895058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81325" y="2524125"/>
            <a:ext cx="4953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B45309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B45309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3E927CA-2543-4F11-96D5-5D1AD25B56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81325" y="3219450"/>
            <a:ext cx="15049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292524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292524"/>
                </a:solidFill>
                <a:latin typeface="Aptos"/>
                <a:ea typeface="Aptos"/>
                <a:cs typeface="Aptos"/>
              </a:rPr>
              <a:t>Inspect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06AAAAD-139E-49F8-8015-9072A922BE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81325" y="3762375"/>
            <a:ext cx="15049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78716C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78716C"/>
                </a:solidFill>
                <a:latin typeface="Aptos"/>
                <a:ea typeface="Aptos"/>
                <a:cs typeface="Aptos"/>
              </a:rPr>
              <a:t>Rotate and zoom the 3D model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9863F88-46B2-4D77-9D3C-FC0E012113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7725" y="3505200"/>
            <a:ext cx="3524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3D1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88B3701-41BB-4486-848B-036F32C015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2333625"/>
            <a:ext cx="184785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8F5"/>
          </a:solidFill>
          <a:ln xmlns:a="http://schemas.openxmlformats.org/drawingml/2006/main" w="9525">
            <a:solidFill>
              <a:srgbClr val="D6D3D1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C928A5F-D659-492B-A4D7-6C61E35654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2524125"/>
            <a:ext cx="4953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78716C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78716C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1A1918F-003F-4D38-BD80-899C8BBAC5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3219450"/>
            <a:ext cx="15049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292524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292524"/>
                </a:solidFill>
                <a:latin typeface="Aptos"/>
                <a:ea typeface="Aptos"/>
                <a:cs typeface="Aptos"/>
              </a:rPr>
              <a:t>Select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948485D-83D0-48EB-93B3-B08069AAF7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3762375"/>
            <a:ext cx="15049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78716C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78716C"/>
                </a:solidFill>
                <a:latin typeface="Aptos"/>
                <a:ea typeface="Aptos"/>
                <a:cs typeface="Aptos"/>
              </a:rPr>
              <a:t>Choose an available size and color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CBA3AF1-17BC-4F40-9404-6226171E6F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505200"/>
            <a:ext cx="3524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3D1"/>
          </a:solidFill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E37946A-75EF-434E-BF67-DBEDDA0BFA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0425" y="2333625"/>
            <a:ext cx="184785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8F5"/>
          </a:solidFill>
          <a:ln xmlns:a="http://schemas.openxmlformats.org/drawingml/2006/main" w="9525">
            <a:solidFill>
              <a:srgbClr val="D6D3D1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338EDA2-C120-434D-A290-ED5C99CE72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2524125"/>
            <a:ext cx="4953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78716C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78716C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35D11D2-DC61-4668-B041-D12D4C59C4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3219450"/>
            <a:ext cx="15049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292524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292524"/>
                </a:solidFill>
                <a:latin typeface="Aptos"/>
                <a:ea typeface="Aptos"/>
                <a:cs typeface="Aptos"/>
              </a:rPr>
              <a:t>Reserve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5CDDCB8-EC4B-4C6D-BC47-255ED23F5D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3762375"/>
            <a:ext cx="15049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78716C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78716C"/>
                </a:solidFill>
                <a:latin typeface="Aptos"/>
                <a:ea typeface="Aptos"/>
                <a:cs typeface="Aptos"/>
              </a:rPr>
              <a:t>Enter pickup contact details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E7B0BC6-DFAC-4BC6-B82B-10FDCFA7F2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58275" y="3505200"/>
            <a:ext cx="3524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3D1"/>
          </a:solidFill>
          <a:ln xmlns:a="http://schemas.openxmlformats.org/drawingml/2006/main" w="0">
            <a:noFill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C11F91D-FB8F-42F1-AA19-C668ED1531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2333625"/>
            <a:ext cx="184785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8F5"/>
          </a:solidFill>
          <a:ln xmlns:a="http://schemas.openxmlformats.org/drawingml/2006/main" w="9525">
            <a:solidFill>
              <a:srgbClr val="D6D3D1"/>
            </a:solidFill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A140207-3724-4F11-BD45-0FD2CDEAE5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2150" y="2524125"/>
            <a:ext cx="4953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78716C"/>
                </a:solidFill>
                <a:latin typeface="Aptos"/>
                <a:ea typeface="Aptos"/>
                <a:cs typeface="Aptos"/>
              </a:defRPr>
            </a:pPr>
            <a:r>
              <a:rPr sz="2550" b="1">
                <a:solidFill>
                  <a:srgbClr val="78716C"/>
                </a:solidFill>
                <a:latin typeface="Aptos"/>
                <a:ea typeface="Aptos"/>
                <a:cs typeface="Aptos"/>
              </a:rPr>
              <a:t>5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D091F8C-0CD1-424F-A901-94E25F0030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2150" y="3219450"/>
            <a:ext cx="15049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292524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292524"/>
                </a:solidFill>
                <a:latin typeface="Aptos"/>
                <a:ea typeface="Aptos"/>
                <a:cs typeface="Aptos"/>
              </a:rPr>
              <a:t>Confirm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0C8F82D-234A-4CFB-9C3C-8B094EBFC2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2150" y="3762375"/>
            <a:ext cx="15049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78716C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78716C"/>
                </a:solidFill>
                <a:latin typeface="Aptos"/>
                <a:ea typeface="Aptos"/>
                <a:cs typeface="Aptos"/>
              </a:rPr>
              <a:t>Owner approves and prepares the pair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BAE43B1-7F48-4AB8-84F1-65B198E115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86375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B45309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B45309"/>
                </a:solidFill>
                <a:latin typeface="Aptos"/>
                <a:ea typeface="Aptos"/>
                <a:cs typeface="Aptos"/>
              </a:rPr>
              <a:t>Owner workflow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FD64A31-BC81-4E80-A83F-0E2AE01EB9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8875" y="5267325"/>
            <a:ext cx="8572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292524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292524"/>
                </a:solidFill>
                <a:latin typeface="Aptos"/>
                <a:ea typeface="Aptos"/>
                <a:cs typeface="Aptos"/>
              </a:rPr>
              <a:t>After login, manage products and GLB files, update variant stock, then confirm or reject reservations.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5FA9911-800A-48B0-AB13-628DF2AC4C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285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78716C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78716C"/>
                </a:solidFill>
                <a:latin typeface="Aptos"/>
                <a:ea typeface="Aptos"/>
                <a:cs typeface="Aptos"/>
              </a:rPr>
              <a:t>SoleView proposal</a:t>
            </a:r>
          </a:p>
        </p:txBody>
      </p:sp>
    </p:spTree>
    <p:extLst>
      <p:ext uri="{BB962C8B-B14F-4D97-AF65-F5344CB8AC3E}">
        <p14:creationId xmlns:p14="http://schemas.microsoft.com/office/powerpoint/2010/main" val="801464590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1C191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1AB56B6-3169-4BCF-AF40-4C0019F126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8572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32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Innovation and improvement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901E327-5DF9-47BA-8551-1D97CC38B4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514350"/>
            <a:ext cx="533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F5D0B5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5D0B5"/>
                </a:solidFill>
                <a:latin typeface="Aptos"/>
                <a:ea typeface="Aptos"/>
                <a:cs typeface="Aptos"/>
              </a:rPr>
              <a:t>06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2666FA5-734C-4E53-A956-8943F93A7F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049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4403C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BA46531-9F3E-42E1-9920-7778B42B14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600200"/>
            <a:ext cx="100012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6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Existing shoe-store pages rely on static photos and manual messages for stock confirmation and pickup requests.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CAF9D12-3BB1-4DF8-8583-73EBB698BB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028950"/>
            <a:ext cx="6858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5309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7F7256E-BF65-4E02-8F1E-684B82CF65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486150"/>
            <a:ext cx="99060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E7E5E4"/>
                </a:solidFill>
                <a:latin typeface="Aptos"/>
                <a:ea typeface="Aptos"/>
                <a:cs typeface="Aptos"/>
              </a:defRPr>
            </a:pPr>
            <a:r>
              <a:rPr sz="2100" b="0">
                <a:solidFill>
                  <a:srgbClr val="E7E5E4"/>
                </a:solidFill>
                <a:latin typeface="Aptos"/>
                <a:ea typeface="Aptos"/>
                <a:cs typeface="Aptos"/>
              </a:rPr>
              <a:t>Our system improves this through interactive 3D viewing, variant-level stock display, and pickup reservation, which helps customers inspect a shoe and secure an available pair faster.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931F53F-B8E2-4EC7-BF06-D9558B0F0C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238750"/>
            <a:ext cx="10001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7534E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CF79BD3-237A-4172-9B1D-C139ED929D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52450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5D0B5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F5D0B5"/>
                </a:solidFill>
                <a:latin typeface="Aptos"/>
                <a:ea typeface="Aptos"/>
                <a:cs typeface="Aptos"/>
              </a:rPr>
              <a:t>Measurable test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E4D54EC-0A74-43DC-9F74-D2949007A2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4625" y="5495925"/>
            <a:ext cx="795337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D6D3D1"/>
                </a:solidFill>
                <a:latin typeface="Aptos"/>
                <a:ea typeface="Aptos"/>
                <a:cs typeface="Aptos"/>
              </a:defRPr>
            </a:pPr>
            <a:r>
              <a:rPr sz="1650" b="0">
                <a:solidFill>
                  <a:srgbClr val="D6D3D1"/>
                </a:solidFill>
                <a:latin typeface="Aptos"/>
                <a:ea typeface="Aptos"/>
                <a:cs typeface="Aptos"/>
              </a:rPr>
              <a:t>Compare the time and number of steps needed to inspect a shoe and confirm a pickup-ready variant.</a:t>
            </a:r>
          </a:p>
        </p:txBody>
      </p:sp>
    </p:spTree>
    <p:extLst>
      <p:ext uri="{BB962C8B-B14F-4D97-AF65-F5344CB8AC3E}">
        <p14:creationId xmlns:p14="http://schemas.microsoft.com/office/powerpoint/2010/main" val="61304347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AF8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7B74BF5-4286-4993-A79C-AC2E03FA85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096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292524"/>
                </a:solidFill>
                <a:latin typeface="Aptos"/>
                <a:ea typeface="Aptos"/>
                <a:cs typeface="Aptos"/>
              </a:defRPr>
            </a:pPr>
            <a:r>
              <a:rPr sz="3225" b="1">
                <a:solidFill>
                  <a:srgbClr val="292524"/>
                </a:solidFill>
                <a:latin typeface="Aptos"/>
                <a:ea typeface="Aptos"/>
                <a:cs typeface="Aptos"/>
              </a:rPr>
              <a:t>Core features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F63D6BF-407F-4DAB-A3A5-4C7F033650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495300"/>
            <a:ext cx="533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B45309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B45309"/>
                </a:solidFill>
                <a:latin typeface="Aptos"/>
                <a:ea typeface="Aptos"/>
                <a:cs typeface="Aptos"/>
              </a:rPr>
              <a:t>07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5A41D1A-3801-455C-9C13-6B79DE7AB6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668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3D1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F613025-1979-4865-A606-B3E3B5B7CF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71625"/>
            <a:ext cx="762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B45309"/>
                </a:solidFill>
                <a:latin typeface="Aptos"/>
                <a:ea typeface="Aptos"/>
                <a:cs typeface="Aptos"/>
              </a:defRPr>
            </a:pPr>
            <a:r>
              <a:rPr sz="3000" b="1">
                <a:solidFill>
                  <a:srgbClr val="B45309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9266168-245D-4026-BAEF-4C18051D50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33625"/>
            <a:ext cx="3238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292524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292524"/>
                </a:solidFill>
                <a:latin typeface="Aptos"/>
                <a:ea typeface="Aptos"/>
                <a:cs typeface="Aptos"/>
              </a:rPr>
              <a:t>Interactive 3D viewer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7A50B4C-1FE1-4E32-91D7-BD77F91C99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14700"/>
            <a:ext cx="3190875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78716C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78716C"/>
                </a:solidFill>
                <a:latin typeface="Aptos"/>
                <a:ea typeface="Aptos"/>
                <a:cs typeface="Aptos"/>
              </a:rPr>
              <a:t>Customers rotate and zoom licensed branded shoe models before selecting a variant.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44A242A-1C01-4AFD-BCEF-6AFE14029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6700" y="1638300"/>
            <a:ext cx="9525" cy="381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3D1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10AC46E-4AC9-481D-B617-A26D685ABB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1571625"/>
            <a:ext cx="762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BE6F87"/>
                </a:solidFill>
                <a:latin typeface="Aptos"/>
                <a:ea typeface="Aptos"/>
                <a:cs typeface="Aptos"/>
              </a:defRPr>
            </a:pPr>
            <a:r>
              <a:rPr sz="3000" b="1">
                <a:solidFill>
                  <a:srgbClr val="BE6F87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D150E85-69A9-4D3B-969D-4F3D260512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2333625"/>
            <a:ext cx="3238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292524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292524"/>
                </a:solidFill>
                <a:latin typeface="Aptos"/>
                <a:ea typeface="Aptos"/>
                <a:cs typeface="Aptos"/>
              </a:rPr>
              <a:t>Stock-linked reservation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1AD5454-A25D-4C68-8616-16C5509D00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3314700"/>
            <a:ext cx="3190875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78716C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78716C"/>
                </a:solidFill>
                <a:latin typeface="Aptos"/>
                <a:ea typeface="Aptos"/>
                <a:cs typeface="Aptos"/>
              </a:rPr>
              <a:t>Customers select a size and color, then reserve an available pair for store pickup.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D4A3ED6-48EF-4846-A199-39C524CEA0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1638300"/>
            <a:ext cx="9525" cy="381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3D1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0C821C8-CE54-4DE4-80E5-96981909C6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1571625"/>
            <a:ext cx="762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3000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15FF8AA-8E15-466C-8DB7-C26EB56909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2333625"/>
            <a:ext cx="3238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292524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292524"/>
                </a:solidFill>
                <a:latin typeface="Aptos"/>
                <a:ea typeface="Aptos"/>
                <a:cs typeface="Aptos"/>
              </a:rPr>
              <a:t>Secure owner management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2612A20-05F6-4463-A90D-063A6A8B6A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3314700"/>
            <a:ext cx="3190875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78716C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78716C"/>
                </a:solidFill>
                <a:latin typeface="Aptos"/>
                <a:ea typeface="Aptos"/>
                <a:cs typeface="Aptos"/>
              </a:rPr>
              <a:t>The owner logs in to manage products, GLB files, stock, and reservation statuses.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797851E-DC00-44C8-99C5-C35F64463D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102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3D1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3FE84FE-8573-4B8F-93DC-5300E20CF1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00750"/>
            <a:ext cx="971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78716C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78716C"/>
                </a:solidFill>
                <a:latin typeface="Aptos"/>
                <a:ea typeface="Aptos"/>
                <a:cs typeface="Aptos"/>
              </a:rPr>
              <a:t>Customers browse and reserve without an account. Only the owner requires login.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DE47853-65B2-4C46-923C-3DA6311C06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285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78716C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78716C"/>
                </a:solidFill>
                <a:latin typeface="Aptos"/>
                <a:ea typeface="Aptos"/>
                <a:cs typeface="Aptos"/>
              </a:rPr>
              <a:t>SoleView proposal</a:t>
            </a:r>
          </a:p>
        </p:txBody>
      </p:sp>
    </p:spTree>
    <p:extLst>
      <p:ext uri="{BB962C8B-B14F-4D97-AF65-F5344CB8AC3E}">
        <p14:creationId xmlns:p14="http://schemas.microsoft.com/office/powerpoint/2010/main" val="534017383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1E0345E-5606-4762-9F96-950DB41B31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096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292524"/>
                </a:solidFill>
                <a:latin typeface="Aptos"/>
                <a:ea typeface="Aptos"/>
                <a:cs typeface="Aptos"/>
              </a:defRPr>
            </a:pPr>
            <a:r>
              <a:rPr sz="3225" b="1">
                <a:solidFill>
                  <a:srgbClr val="292524"/>
                </a:solidFill>
                <a:latin typeface="Aptos"/>
                <a:ea typeface="Aptos"/>
                <a:cs typeface="Aptos"/>
              </a:rPr>
              <a:t>Scope and limitations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B409439-0C94-4EC7-9A2A-77C1A9BB98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495300"/>
            <a:ext cx="533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B45309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B45309"/>
                </a:solidFill>
                <a:latin typeface="Aptos"/>
                <a:ea typeface="Aptos"/>
                <a:cs typeface="Aptos"/>
              </a:rPr>
              <a:t>08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40543C5-6968-4FF1-8808-A3A06BE7EB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668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3D1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E38FAD5-ED61-4E81-9E2E-43CB1BF66C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28750"/>
            <a:ext cx="5219700" cy="433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F4F1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7202CA5-274B-44AC-AA97-B8B64D25C2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1428750"/>
            <a:ext cx="5219700" cy="433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1E6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4109B7B-1FCE-4C74-AAC2-DE5D6C6E7E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714500"/>
            <a:ext cx="2095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Included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BFC615B-5850-4074-83E2-058AF7FF67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362200"/>
            <a:ext cx="4476750" cy="290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marL="228600" indent="-114300">
              <a:spcAft>
                <a:spcPts val="1000"/>
              </a:spcAft>
              <a:buChar char="•"/>
              <a:defRPr sz="1650">
                <a:solidFill>
                  <a:srgbClr val="292524"/>
                </a:solidFill>
                <a:latin typeface="Aptos"/>
                <a:ea typeface="Aptos"/>
                <a:cs typeface="Aptos"/>
              </a:defRPr>
            </a:pPr>
            <a:r>
              <a:rPr sz="1650">
                <a:solidFill>
                  <a:srgbClr val="292524"/>
                </a:solidFill>
                <a:latin typeface="Aptos"/>
                <a:ea typeface="Aptos"/>
                <a:cs typeface="Aptos"/>
              </a:rPr>
              <a:t>Public catalog for one shoe store</a:t>
            </a:r>
          </a:p>
          <a:p xmlns:a="http://schemas.openxmlformats.org/drawingml/2006/main">
            <a:pPr marL="228600" indent="-114300">
              <a:spcAft>
                <a:spcPts val="1000"/>
              </a:spcAft>
              <a:buChar char="•"/>
              <a:defRPr sz="1650">
                <a:solidFill>
                  <a:srgbClr val="292524"/>
                </a:solidFill>
                <a:latin typeface="Aptos"/>
                <a:ea typeface="Aptos"/>
                <a:cs typeface="Aptos"/>
              </a:defRPr>
            </a:pPr>
            <a:r>
              <a:rPr sz="1650">
                <a:solidFill>
                  <a:srgbClr val="292524"/>
                </a:solidFill>
                <a:latin typeface="Aptos"/>
                <a:ea typeface="Aptos"/>
                <a:cs typeface="Aptos"/>
              </a:rPr>
              <a:t>Interactive GLB model viewing</a:t>
            </a:r>
          </a:p>
          <a:p xmlns:a="http://schemas.openxmlformats.org/drawingml/2006/main">
            <a:pPr marL="228600" indent="-114300">
              <a:spcAft>
                <a:spcPts val="1000"/>
              </a:spcAft>
              <a:buChar char="•"/>
              <a:defRPr sz="1650">
                <a:solidFill>
                  <a:srgbClr val="292524"/>
                </a:solidFill>
                <a:latin typeface="Aptos"/>
                <a:ea typeface="Aptos"/>
                <a:cs typeface="Aptos"/>
              </a:defRPr>
            </a:pPr>
            <a:r>
              <a:rPr sz="1650">
                <a:solidFill>
                  <a:srgbClr val="292524"/>
                </a:solidFill>
                <a:latin typeface="Aptos"/>
                <a:ea typeface="Aptos"/>
                <a:cs typeface="Aptos"/>
              </a:rPr>
              <a:t>Stock by size and color</a:t>
            </a:r>
          </a:p>
          <a:p xmlns:a="http://schemas.openxmlformats.org/drawingml/2006/main">
            <a:pPr marL="228600" indent="-114300">
              <a:spcAft>
                <a:spcPts val="1000"/>
              </a:spcAft>
              <a:buChar char="•"/>
              <a:defRPr sz="1650">
                <a:solidFill>
                  <a:srgbClr val="292524"/>
                </a:solidFill>
                <a:latin typeface="Aptos"/>
                <a:ea typeface="Aptos"/>
                <a:cs typeface="Aptos"/>
              </a:defRPr>
            </a:pPr>
            <a:r>
              <a:rPr sz="1650">
                <a:solidFill>
                  <a:srgbClr val="292524"/>
                </a:solidFill>
                <a:latin typeface="Aptos"/>
                <a:ea typeface="Aptos"/>
                <a:cs typeface="Aptos"/>
              </a:rPr>
              <a:t>Guest pickup reservation</a:t>
            </a:r>
          </a:p>
          <a:p xmlns:a="http://schemas.openxmlformats.org/drawingml/2006/main">
            <a:pPr marL="228600" indent="-114300">
              <a:spcAft>
                <a:spcPts val="1000"/>
              </a:spcAft>
              <a:buChar char="•"/>
              <a:defRPr sz="1650">
                <a:solidFill>
                  <a:srgbClr val="292524"/>
                </a:solidFill>
                <a:latin typeface="Aptos"/>
                <a:ea typeface="Aptos"/>
                <a:cs typeface="Aptos"/>
              </a:defRPr>
            </a:pPr>
            <a:r>
              <a:rPr sz="1650">
                <a:solidFill>
                  <a:srgbClr val="292524"/>
                </a:solidFill>
                <a:latin typeface="Aptos"/>
                <a:ea typeface="Aptos"/>
                <a:cs typeface="Aptos"/>
              </a:rPr>
              <a:t>Reservation reference and status</a:t>
            </a:r>
          </a:p>
          <a:p xmlns:a="http://schemas.openxmlformats.org/drawingml/2006/main">
            <a:pPr marL="228600" indent="-114300">
              <a:spcAft>
                <a:spcPts val="1000"/>
              </a:spcAft>
              <a:buChar char="•"/>
              <a:defRPr sz="1650">
                <a:solidFill>
                  <a:srgbClr val="292524"/>
                </a:solidFill>
                <a:latin typeface="Aptos"/>
                <a:ea typeface="Aptos"/>
                <a:cs typeface="Aptos"/>
              </a:defRPr>
            </a:pPr>
            <a:r>
              <a:rPr sz="1650">
                <a:solidFill>
                  <a:srgbClr val="292524"/>
                </a:solidFill>
                <a:latin typeface="Aptos"/>
                <a:ea typeface="Aptos"/>
                <a:cs typeface="Aptos"/>
              </a:rPr>
              <a:t>Owner login and management tools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4AB798D-C079-4307-8510-7E9914FFEC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1714500"/>
            <a:ext cx="4095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B45309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B45309"/>
                </a:solidFill>
                <a:latin typeface="Aptos"/>
                <a:ea typeface="Aptos"/>
                <a:cs typeface="Aptos"/>
              </a:rPr>
              <a:t>Excluded from first version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AC70131-2525-49D9-86B6-FD6D52234D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2362200"/>
            <a:ext cx="4476750" cy="2905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marL="228600" indent="-114300">
              <a:spcAft>
                <a:spcPts val="1000"/>
              </a:spcAft>
              <a:buChar char="•"/>
              <a:defRPr sz="1650">
                <a:solidFill>
                  <a:srgbClr val="292524"/>
                </a:solidFill>
                <a:latin typeface="Aptos"/>
                <a:ea typeface="Aptos"/>
                <a:cs typeface="Aptos"/>
              </a:defRPr>
            </a:pPr>
            <a:r>
              <a:rPr sz="1650">
                <a:solidFill>
                  <a:srgbClr val="292524"/>
                </a:solidFill>
                <a:latin typeface="Aptos"/>
                <a:ea typeface="Aptos"/>
                <a:cs typeface="Aptos"/>
              </a:rPr>
              <a:t>Online payment processing</a:t>
            </a:r>
          </a:p>
          <a:p xmlns:a="http://schemas.openxmlformats.org/drawingml/2006/main">
            <a:pPr marL="228600" indent="-114300">
              <a:spcAft>
                <a:spcPts val="1000"/>
              </a:spcAft>
              <a:buChar char="•"/>
              <a:defRPr sz="1650">
                <a:solidFill>
                  <a:srgbClr val="292524"/>
                </a:solidFill>
                <a:latin typeface="Aptos"/>
                <a:ea typeface="Aptos"/>
                <a:cs typeface="Aptos"/>
              </a:defRPr>
            </a:pPr>
            <a:r>
              <a:rPr sz="1650">
                <a:solidFill>
                  <a:srgbClr val="292524"/>
                </a:solidFill>
                <a:latin typeface="Aptos"/>
                <a:ea typeface="Aptos"/>
                <a:cs typeface="Aptos"/>
              </a:rPr>
              <a:t>Delivery and courier tracking</a:t>
            </a:r>
          </a:p>
          <a:p xmlns:a="http://schemas.openxmlformats.org/drawingml/2006/main">
            <a:pPr marL="228600" indent="-114300">
              <a:spcAft>
                <a:spcPts val="1000"/>
              </a:spcAft>
              <a:buChar char="•"/>
              <a:defRPr sz="1650">
                <a:solidFill>
                  <a:srgbClr val="292524"/>
                </a:solidFill>
                <a:latin typeface="Aptos"/>
                <a:ea typeface="Aptos"/>
                <a:cs typeface="Aptos"/>
              </a:defRPr>
            </a:pPr>
            <a:r>
              <a:rPr sz="1650">
                <a:solidFill>
                  <a:srgbClr val="292524"/>
                </a:solidFill>
                <a:latin typeface="Aptos"/>
                <a:ea typeface="Aptos"/>
                <a:cs typeface="Aptos"/>
              </a:rPr>
              <a:t>Multiple stores or seller accounts</a:t>
            </a:r>
          </a:p>
          <a:p xmlns:a="http://schemas.openxmlformats.org/drawingml/2006/main">
            <a:pPr marL="228600" indent="-114300">
              <a:spcAft>
                <a:spcPts val="1000"/>
              </a:spcAft>
              <a:buChar char="•"/>
              <a:defRPr sz="1650">
                <a:solidFill>
                  <a:srgbClr val="292524"/>
                </a:solidFill>
                <a:latin typeface="Aptos"/>
                <a:ea typeface="Aptos"/>
                <a:cs typeface="Aptos"/>
              </a:defRPr>
            </a:pPr>
            <a:r>
              <a:rPr sz="1650">
                <a:solidFill>
                  <a:srgbClr val="292524"/>
                </a:solidFill>
                <a:latin typeface="Aptos"/>
                <a:ea typeface="Aptos"/>
                <a:cs typeface="Aptos"/>
              </a:rPr>
              <a:t>Customer login and loyalty program</a:t>
            </a:r>
          </a:p>
          <a:p xmlns:a="http://schemas.openxmlformats.org/drawingml/2006/main">
            <a:pPr marL="228600" indent="-114300">
              <a:spcAft>
                <a:spcPts val="1000"/>
              </a:spcAft>
              <a:buChar char="•"/>
              <a:defRPr sz="1650">
                <a:solidFill>
                  <a:srgbClr val="292524"/>
                </a:solidFill>
                <a:latin typeface="Aptos"/>
                <a:ea typeface="Aptos"/>
                <a:cs typeface="Aptos"/>
              </a:defRPr>
            </a:pPr>
            <a:r>
              <a:rPr sz="1650">
                <a:solidFill>
                  <a:srgbClr val="292524"/>
                </a:solidFill>
                <a:latin typeface="Aptos"/>
                <a:ea typeface="Aptos"/>
                <a:cs typeface="Aptos"/>
              </a:rPr>
              <a:t>Augmented-reality fitting</a:t>
            </a:r>
          </a:p>
          <a:p xmlns:a="http://schemas.openxmlformats.org/drawingml/2006/main">
            <a:pPr marL="228600" indent="-114300">
              <a:spcAft>
                <a:spcPts val="1000"/>
              </a:spcAft>
              <a:buChar char="•"/>
              <a:defRPr sz="1650">
                <a:solidFill>
                  <a:srgbClr val="292524"/>
                </a:solidFill>
                <a:latin typeface="Aptos"/>
                <a:ea typeface="Aptos"/>
                <a:cs typeface="Aptos"/>
              </a:defRPr>
            </a:pPr>
            <a:r>
              <a:rPr sz="1650">
                <a:solidFill>
                  <a:srgbClr val="292524"/>
                </a:solidFill>
                <a:latin typeface="Aptos"/>
                <a:ea typeface="Aptos"/>
                <a:cs typeface="Aptos"/>
              </a:rPr>
              <a:t>Automatic 3D model generation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4236F46-EE33-4549-9063-F53E6DC965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81700"/>
            <a:ext cx="10972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78716C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78716C"/>
                </a:solidFill>
                <a:latin typeface="Aptos"/>
                <a:ea typeface="Aptos"/>
                <a:cs typeface="Aptos"/>
              </a:rPr>
              <a:t>Branded sample models require a valid asset license, creator attribution, and an academic-use disclaimer.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BFBB0A8-9E27-40F0-BC18-E14D12FB6E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285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78716C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78716C"/>
                </a:solidFill>
                <a:latin typeface="Aptos"/>
                <a:ea typeface="Aptos"/>
                <a:cs typeface="Aptos"/>
              </a:rPr>
              <a:t>SoleView proposal</a:t>
            </a:r>
          </a:p>
        </p:txBody>
      </p:sp>
    </p:spTree>
    <p:extLst>
      <p:ext uri="{BB962C8B-B14F-4D97-AF65-F5344CB8AC3E}">
        <p14:creationId xmlns:p14="http://schemas.microsoft.com/office/powerpoint/2010/main" val="1137753022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AF8F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612F80B-CEAB-4590-9D2C-CF1E186375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096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292524"/>
                </a:solidFill>
                <a:latin typeface="Aptos"/>
                <a:ea typeface="Aptos"/>
                <a:cs typeface="Aptos"/>
              </a:defRPr>
            </a:pPr>
            <a:r>
              <a:rPr sz="3225" b="1">
                <a:solidFill>
                  <a:srgbClr val="292524"/>
                </a:solidFill>
                <a:latin typeface="Aptos"/>
                <a:ea typeface="Aptos"/>
                <a:cs typeface="Aptos"/>
              </a:rPr>
              <a:t>UI design and prototype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47AD49A-47C2-4D47-8C0D-D65878C988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495300"/>
            <a:ext cx="533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B45309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B45309"/>
                </a:solidFill>
                <a:latin typeface="Aptos"/>
                <a:ea typeface="Aptos"/>
                <a:cs typeface="Aptos"/>
              </a:rPr>
              <a:t>09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9AAEA1D-A4BD-456D-8991-033B78A847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668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3D1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6E60EE2-ABA7-44DB-B627-459E2123DC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04925"/>
            <a:ext cx="4286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B45309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B45309"/>
                </a:solidFill>
                <a:latin typeface="Aptos"/>
                <a:ea typeface="Aptos"/>
                <a:cs typeface="Aptos"/>
              </a:rPr>
              <a:t>Customer product-viewing screen</a:t>
            </a:r>
          </a:p>
        </p:txBody>
      </p:sp>
      <p:pic>
        <p:nvPicPr>
          <p:cNvPr id="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b8d5321e8264713"/>
          <a:stretch xmlns:a="http://schemas.openxmlformats.org/drawingml/2006/main"/>
        </p:blipFill>
        <p:spPr>
          <a:xfrm xmlns:a="http://schemas.openxmlformats.org/drawingml/2006/main">
            <a:off x="2034159" y="1762125"/>
            <a:ext cx="8123681" cy="4572000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6F0ADF3-BA32-4AC1-B962-73B3E8A8D3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2857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78716C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78716C"/>
                </a:solidFill>
                <a:latin typeface="Aptos"/>
                <a:ea typeface="Aptos"/>
                <a:cs typeface="Aptos"/>
              </a:rPr>
              <a:t>SoleView proposal</a:t>
            </a:r>
          </a:p>
        </p:txBody>
      </p:sp>
    </p:spTree>
    <p:extLst>
      <p:ext uri="{BB962C8B-B14F-4D97-AF65-F5344CB8AC3E}">
        <p14:creationId xmlns:p14="http://schemas.microsoft.com/office/powerpoint/2010/main" val="135096232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1C191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3DDE0BD-2DB4-4FDB-8EFC-718C0CBF8B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2476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5D0B5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F5D0B5"/>
                </a:solidFill>
                <a:latin typeface="Aptos"/>
                <a:ea typeface="Aptos"/>
                <a:cs typeface="Aptos"/>
              </a:rPr>
              <a:t>SOLEVIEW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082C94D-B574-48B9-9D52-CE3CF0BE43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19200"/>
            <a:ext cx="6667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9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39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Closing summary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7FDCB2D-9DE0-4045-999D-5773DB5AD5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33625"/>
            <a:ext cx="13811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5D0B5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F5D0B5"/>
                </a:solidFill>
                <a:latin typeface="Aptos"/>
                <a:ea typeface="Aptos"/>
                <a:cs typeface="Aptos"/>
              </a:rPr>
              <a:t>Problem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B77759C-8726-4420-A7A5-90FD6FAD4F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2314575"/>
            <a:ext cx="752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F5F5F4"/>
                </a:solidFill>
                <a:latin typeface="Aptos"/>
                <a:ea typeface="Aptos"/>
                <a:cs typeface="Aptos"/>
              </a:defRPr>
            </a:pPr>
            <a:r>
              <a:rPr sz="1875" b="0">
                <a:solidFill>
                  <a:srgbClr val="F5F5F4"/>
                </a:solidFill>
                <a:latin typeface="Aptos"/>
                <a:ea typeface="Aptos"/>
                <a:cs typeface="Aptos"/>
              </a:rPr>
              <a:t>Static photos and manual stock inquiries slow customer decisions.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D1BC847-B5A4-46F1-B763-AB224EE441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38450"/>
            <a:ext cx="91725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4403C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1DBA15F-DAC6-474E-8D90-6F054B94D1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14675"/>
            <a:ext cx="13811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5D0B5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F5D0B5"/>
                </a:solidFill>
                <a:latin typeface="Aptos"/>
                <a:ea typeface="Aptos"/>
                <a:cs typeface="Aptos"/>
              </a:rPr>
              <a:t>Solution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B5F3501-5AB5-417F-A72A-B311901247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3095625"/>
            <a:ext cx="752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F5F5F4"/>
                </a:solidFill>
                <a:latin typeface="Aptos"/>
                <a:ea typeface="Aptos"/>
                <a:cs typeface="Aptos"/>
              </a:defRPr>
            </a:pPr>
            <a:r>
              <a:rPr sz="1875" b="0">
                <a:solidFill>
                  <a:srgbClr val="F5F5F4"/>
                </a:solidFill>
                <a:latin typeface="Aptos"/>
                <a:ea typeface="Aptos"/>
                <a:cs typeface="Aptos"/>
              </a:rPr>
              <a:t>3D viewing connects variant selection with pickup reservation.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9520253-A869-43DA-8C56-4E2AD3BE25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0"/>
            <a:ext cx="91725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4403C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73E8209-3FAA-4706-AD54-515FE9BD5D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95725"/>
            <a:ext cx="13811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5D0B5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F5D0B5"/>
                </a:solidFill>
                <a:latin typeface="Aptos"/>
                <a:ea typeface="Aptos"/>
                <a:cs typeface="Aptos"/>
              </a:rPr>
              <a:t>Innovation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013EC90-D092-4F5E-ABF1-31549D8241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3876675"/>
            <a:ext cx="752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F5F5F4"/>
                </a:solidFill>
                <a:latin typeface="Aptos"/>
                <a:ea typeface="Aptos"/>
                <a:cs typeface="Aptos"/>
              </a:defRPr>
            </a:pPr>
            <a:r>
              <a:rPr sz="1875" b="0">
                <a:solidFill>
                  <a:srgbClr val="F5F5F4"/>
                </a:solidFill>
                <a:latin typeface="Aptos"/>
                <a:ea typeface="Aptos"/>
                <a:cs typeface="Aptos"/>
              </a:rPr>
              <a:t>Customers inspect and secure an available pair in one workflow.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11C515A-49E7-4F47-B229-00795E9AD5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00550"/>
            <a:ext cx="91725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4403C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F472E46-0D76-4D51-9B6D-F32EAA1036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76775"/>
            <a:ext cx="13811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5D0B5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F5D0B5"/>
                </a:solidFill>
                <a:latin typeface="Aptos"/>
                <a:ea typeface="Aptos"/>
                <a:cs typeface="Aptos"/>
              </a:rPr>
              <a:t>Scope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F1292A0-FF77-4FE5-BD8E-1DE7E1FC7D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4657725"/>
            <a:ext cx="7524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F5F5F4"/>
                </a:solidFill>
                <a:latin typeface="Aptos"/>
                <a:ea typeface="Aptos"/>
                <a:cs typeface="Aptos"/>
              </a:defRPr>
            </a:pPr>
            <a:r>
              <a:rPr sz="1875" b="0">
                <a:solidFill>
                  <a:srgbClr val="F5F5F4"/>
                </a:solidFill>
                <a:latin typeface="Aptos"/>
                <a:ea typeface="Aptos"/>
                <a:cs typeface="Aptos"/>
              </a:rPr>
              <a:t>One shoe store with public browsing and secure owner tools.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5B53C4E-5EAF-4280-B8C0-14EAF8F970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81600"/>
            <a:ext cx="917257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4403C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21BB12E-3310-425F-B243-1D90033693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5286375"/>
            <a:ext cx="1428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950" b="1">
                <a:solidFill>
                  <a:srgbClr val="B45309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B45309"/>
                </a:solidFill>
                <a:latin typeface="Aptos"/>
                <a:ea typeface="Aptos"/>
                <a:cs typeface="Aptos"/>
              </a:rPr>
              <a:t>Questions?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AF3E02B-8555-4DE7-8BFB-462D3AA13C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10250"/>
            <a:ext cx="8572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A8A29E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A8A29E"/>
                </a:solidFill>
                <a:latin typeface="Aptos"/>
                <a:ea typeface="Aptos"/>
                <a:cs typeface="Aptos"/>
              </a:rPr>
              <a:t>Ready to explain reservation states, stock handling, GLB licensing, and project boundaries.</a:t>
            </a:r>
          </a:p>
        </p:txBody>
      </p:sp>
    </p:spTree>
    <p:extLst>
      <p:ext uri="{BB962C8B-B14F-4D97-AF65-F5344CB8AC3E}">
        <p14:creationId xmlns:p14="http://schemas.microsoft.com/office/powerpoint/2010/main" val="198527449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2026-09-08T10:46:21.4910000Z</dcterms:created>
  <dcterms:modified xsi:type="dcterms:W3CDTF">2026-09-08T10:46:21.4910000Z</dcterms:modified>
</coreProperties>
</file>